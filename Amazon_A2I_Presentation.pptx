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41820"/>
          </a:solidFill>
          <a:ln w="12700">
            <a:solidFill>
              <a:srgbClr val="1418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Augmented 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(Amazon A2I)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Machine Learning for Trusted AI Outcomes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8686800" cy="54864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docs.aws.amazon.com/augmented-ai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Amazon A2I?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9319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AWS service that enables </a:t>
            </a:r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machine learning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routes uncertain or low-confidence ML predictions to human reviewers for validation.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heavy lifting of building manual review systems and managing large reviewer teams.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Amazon Textract, Rekognition, SageMaker, Comprehend, Transcribe, and Translate.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51560"/>
            <a:ext cx="420624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(HumanLoop)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1600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6636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makes a prediction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1984248"/>
            <a:ext cx="0" cy="347472"/>
          </a:xfrm>
          <a:prstGeom prst="line">
            <a:avLst/>
          </a:prstGeom>
          <a:noFill/>
          <a:ln w="19050">
            <a:solidFill>
              <a:srgbClr val="BDBDB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709160" y="2350008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2350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2532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A2I checks confidence threshold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734056"/>
            <a:ext cx="0" cy="347472"/>
          </a:xfrm>
          <a:prstGeom prst="line">
            <a:avLst/>
          </a:prstGeom>
          <a:noFill/>
          <a:ln w="19050">
            <a:solidFill>
              <a:srgbClr val="BDBDB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709160" y="3099816"/>
            <a:ext cx="365760" cy="365760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3099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2826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sent to human reviewer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483864"/>
            <a:ext cx="0" cy="347472"/>
          </a:xfrm>
          <a:prstGeom prst="line">
            <a:avLst/>
          </a:prstGeom>
          <a:noFill/>
          <a:ln w="19050">
            <a:solidFill>
              <a:srgbClr val="BDBDB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709160" y="3849624"/>
            <a:ext cx="365760" cy="36576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3849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66360" y="40325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result sent to output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2D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Use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1234440"/>
          </a:xfrm>
          <a:prstGeom prst="rect">
            <a:avLst/>
          </a:prstGeom>
          <a:solidFill>
            <a:srgbClr val="2E3A50"/>
          </a:solidFill>
          <a:ln w="12700">
            <a:solidFill>
              <a:srgbClr val="3D4F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01168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Workflows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356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 for document processing, image moderation &amp; text extraction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11680" cy="1234440"/>
          </a:xfrm>
          <a:prstGeom prst="rect">
            <a:avLst/>
          </a:prstGeom>
          <a:solidFill>
            <a:srgbClr val="2E3A50"/>
          </a:solidFill>
          <a:ln w="12700">
            <a:solidFill>
              <a:srgbClr val="3D4F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51560"/>
            <a:ext cx="20116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4356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Auto-routes low-confidence predictions to humans, reducing unnecessary reviews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2011680" cy="1234440"/>
          </a:xfrm>
          <a:prstGeom prst="rect">
            <a:avLst/>
          </a:prstGeom>
          <a:solidFill>
            <a:srgbClr val="2E3A50"/>
          </a:solidFill>
          <a:ln w="12700">
            <a:solidFill>
              <a:srgbClr val="3D4F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23160"/>
            <a:ext cx="2011680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Workforce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8072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teams, third-party vendors, or Amazon Mechanical Turk marketplace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2423160"/>
            <a:ext cx="2011680" cy="1234440"/>
          </a:xfrm>
          <a:prstGeom prst="rect">
            <a:avLst/>
          </a:prstGeom>
          <a:solidFill>
            <a:srgbClr val="2E3A50"/>
          </a:solidFill>
          <a:ln w="12700">
            <a:solidFill>
              <a:srgbClr val="3D4F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2423160"/>
            <a:ext cx="201168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Integration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8072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SageMaker, Rekognition, Textract, Comprehend, Transcribe, Translate &amp; custom models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114800" cy="566928"/>
          </a:xfrm>
          <a:prstGeom prst="rect">
            <a:avLst/>
          </a:prstGeom>
          <a:solidFill>
            <a:srgbClr val="2E3A50"/>
          </a:solidFill>
          <a:ln w="9525">
            <a:solidFill>
              <a:srgbClr val="3D4F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93792" y="1472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93792" y="1691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redaction, key-value extraction from forms &amp; mortgage applications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114800" cy="566928"/>
          </a:xfrm>
          <a:prstGeom prst="rect">
            <a:avLst/>
          </a:prstGeom>
          <a:solidFill>
            <a:srgbClr val="2E3A50"/>
          </a:solidFill>
          <a:ln w="9525">
            <a:solidFill>
              <a:srgbClr val="3D4F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3792" y="2157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93792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images &amp; text for inappropriate adult or violent content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566928"/>
          </a:xfrm>
          <a:prstGeom prst="rect">
            <a:avLst/>
          </a:prstGeom>
          <a:solidFill>
            <a:srgbClr val="2E3A50"/>
          </a:solidFill>
          <a:ln w="9525">
            <a:solidFill>
              <a:srgbClr val="3D4F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93792" y="28437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Healthcare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93792" y="3063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validation for critical, high-stakes decisions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4114800" cy="566928"/>
          </a:xfrm>
          <a:prstGeom prst="rect">
            <a:avLst/>
          </a:prstGeom>
          <a:solidFill>
            <a:srgbClr val="2E3A50"/>
          </a:solidFill>
          <a:ln w="9525">
            <a:solidFill>
              <a:srgbClr val="3D4F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93792" y="35295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Tasks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93792" y="3749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translations, transcriptions, sentiment analysis &amp; entity detection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4160520"/>
            <a:ext cx="4114800" cy="566928"/>
          </a:xfrm>
          <a:prstGeom prst="rect">
            <a:avLst/>
          </a:prstGeom>
          <a:solidFill>
            <a:srgbClr val="2E3A50"/>
          </a:solidFill>
          <a:ln w="9525">
            <a:solidFill>
              <a:srgbClr val="3D4F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93792" y="42153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Training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4434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human-reviewed output data to retrain &amp; improve ML models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A2I = Automated Predictions  +  Human Judgment  =  Accurate &amp; Trustworthy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Augmented AI (A2I)</dc:title>
  <dc:subject>PptxGenJS Presentation</dc:subject>
  <dc:creator>PptxGenJS</dc:creator>
  <cp:lastModifiedBy>PptxGenJS</cp:lastModifiedBy>
  <cp:revision>1</cp:revision>
  <dcterms:created xsi:type="dcterms:W3CDTF">2026-04-28T15:20:08Z</dcterms:created>
  <dcterms:modified xsi:type="dcterms:W3CDTF">2026-04-28T15:20:08Z</dcterms:modified>
</cp:coreProperties>
</file>