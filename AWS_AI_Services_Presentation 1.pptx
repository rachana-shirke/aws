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presentation covers three powerful AWS AI services: Amazon A2I for human-in-the-loop ML review, Amazon Transcribe for speech-to-text conversion, and Amazon Kendra for intelligent enterprise search. These services help businesses automate, validate, and search data smarter.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A2I stands for Augmented AI. The key idea is Human-in-the-Loop machine learning. Instead of fully trusting ML predictions, A2I checks the confidence score. If confidence is too low, a human reviewer steps in to verify and correct the output. The beauty is that all of this is managed by AWS — no need to build custom review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A2I workflow follows four steps: Step 1 — an ML model makes a prediction. Step 2 — A2I evaluates the confidence score. Step 3 — if confidence is low, the task goes to a human reviewer via a web interface. Step 4 — the human-validated result is sent to the output. Top use cases include verifying data from scanned documents, moderating online content, and ensuring compliance in finance and healthcare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Transcribe uses Automatic Speech Recognition — the same technology behind voice assistants. It works in two modes: Real-time streaming for live scenarios, and batch mode for pre-recorded files. The output can be in plain text, structured JSON with timestamps, or subtitle formats like SRT. A key feature called Speaker Diarization can identify who said what in a meeting or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simple: upload audio to Amazon S3, call the Transcribe API, and the ASR engine processes sound waves into text using deep learning. Transcribe also integrates with Amazon Comprehend for sentiment analysis and Amazon Translate for multilingual output. Real-world applications include analyzing thousands of customer calls automatically, generating medical notes from doctor-patient conversations, and creating captions for educational videos.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Kendra is the 'smart brain' for your company's documents and data. Traditional search is like finding a word in a dictionary — exact match only. Kendra understands language like a human expert. It can answer 'How many sick leaves do I get?' by reading through HR policies and returning the exact number. It connects to data sources like S3, SharePoint, Salesforce, and Google Drive using built-in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Kendra's pipeline has 5 stages: Data Ingestion connects to sources, Document Parsing extracts text and structure, NLP and Indexing builds a smart search index, Query Understanding breaks apart what the user is asking, and ML Ranking shows the best answer first. It learns from user clicks and behavior over time. Key use cases include HR portals, customer support bots, and internal knowledge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Amazon A2I adds human judgment to ML predictions — great for compliance-heavy industries. Amazon Transcribe converts any audio into text — perfect for call centers, healthcare, and media. Amazon Kendra brings Google-like intelligent search to your internal company data — answers questions directly instead of just finding documents. Together, these three services cover validate, listen, and search — three pillars of AI-enhanced business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for their attention. Open the floor for questions. Key takeaway: AWS provides managed, production-ready AI services so developers don't need to build these systems from scratch. A2I for validation, Transcribe for voice, and Kendra for search — three services that solve real business problems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F6F00"/>
          </a:solidFill>
          <a:ln/>
        </p:spPr>
      </p:sp>
      <p:sp>
        <p:nvSpPr>
          <p:cNvPr id="3" name="Text 1"/>
          <p:cNvSpPr/>
          <p:nvPr/>
        </p:nvSpPr>
        <p:spPr>
          <a:xfrm>
            <a:off x="594360" y="1097280"/>
            <a:ext cx="8046720" cy="100584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AWS AI Services</a:t>
            </a:r>
            <a:endParaRPr lang="en-US" sz="4600" dirty="0"/>
          </a:p>
        </p:txBody>
      </p:sp>
      <p:sp>
        <p:nvSpPr>
          <p:cNvPr id="4" name="Text 2"/>
          <p:cNvSpPr/>
          <p:nvPr/>
        </p:nvSpPr>
        <p:spPr>
          <a:xfrm>
            <a:off x="594360" y="2240280"/>
            <a:ext cx="8046720" cy="548640"/>
          </a:xfrm>
          <a:prstGeom prst="rect">
            <a:avLst/>
          </a:prstGeom>
          <a:noFill/>
          <a:ln/>
        </p:spPr>
        <p:txBody>
          <a:bodyPr wrap="square" rtlCol="0" anchor="ctr"/>
          <a:lstStyle/>
          <a:p>
            <a:pPr indent="0" marL="0">
              <a:buNone/>
            </a:pPr>
            <a:r>
              <a:rPr lang="en-US" sz="2000" dirty="0">
                <a:solidFill>
                  <a:srgbClr val="90CAF9"/>
                </a:solidFill>
                <a:latin typeface="Calibri" pitchFamily="34" charset="0"/>
                <a:ea typeface="Calibri" pitchFamily="34" charset="-122"/>
                <a:cs typeface="Calibri" pitchFamily="34" charset="-120"/>
              </a:rPr>
              <a:t>Amazon A2I  |  Amazon Transcribe  |  Amazon Kendra</a:t>
            </a:r>
            <a:endParaRPr lang="en-US" sz="2000" dirty="0"/>
          </a:p>
        </p:txBody>
      </p:sp>
      <p:sp>
        <p:nvSpPr>
          <p:cNvPr id="5" name="Shape 3"/>
          <p:cNvSpPr/>
          <p:nvPr/>
        </p:nvSpPr>
        <p:spPr>
          <a:xfrm>
            <a:off x="0" y="4389120"/>
            <a:ext cx="9144000" cy="754380"/>
          </a:xfrm>
          <a:prstGeom prst="rect">
            <a:avLst/>
          </a:prstGeom>
          <a:solidFill>
            <a:srgbClr val="1565C0"/>
          </a:solidFill>
          <a:ln/>
        </p:spPr>
      </p:sp>
      <p:sp>
        <p:nvSpPr>
          <p:cNvPr id="6" name="Text 4"/>
          <p:cNvSpPr/>
          <p:nvPr/>
        </p:nvSpPr>
        <p:spPr>
          <a:xfrm>
            <a:off x="274320" y="4434840"/>
            <a:ext cx="8686800" cy="5943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Presented by  |  AWS Cloud AI Overview  |  2025</a:t>
            </a:r>
            <a:endParaRPr lang="en-US" sz="1300" dirty="0"/>
          </a:p>
        </p:txBody>
      </p:sp>
      <p:sp>
        <p:nvSpPr>
          <p:cNvPr id="7" name="Shape 5"/>
          <p:cNvSpPr/>
          <p:nvPr/>
        </p:nvSpPr>
        <p:spPr>
          <a:xfrm>
            <a:off x="7589520" y="274320"/>
            <a:ext cx="2286000" cy="2286000"/>
          </a:xfrm>
          <a:prstGeom prst="ellipse">
            <a:avLst/>
          </a:prstGeom>
          <a:solidFill>
            <a:srgbClr val="1E88E5">
              <a:alpha val="20000"/>
            </a:srgbClr>
          </a:solidFill>
          <a:ln/>
        </p:spPr>
      </p:sp>
      <p:sp>
        <p:nvSpPr>
          <p:cNvPr id="8" name="Shape 6"/>
          <p:cNvSpPr/>
          <p:nvPr/>
        </p:nvSpPr>
        <p:spPr>
          <a:xfrm>
            <a:off x="8046720" y="731520"/>
            <a:ext cx="1371600" cy="1371600"/>
          </a:xfrm>
          <a:prstGeom prst="ellipse">
            <a:avLst/>
          </a:prstGeom>
          <a:solidFill>
            <a:srgbClr val="FF6F00">
              <a:alpha val="3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565C0"/>
          </a:solidFill>
          <a:ln/>
        </p:spPr>
      </p:sp>
      <p:sp>
        <p:nvSpPr>
          <p:cNvPr id="3" name="Text 1"/>
          <p:cNvSpPr/>
          <p:nvPr/>
        </p:nvSpPr>
        <p:spPr>
          <a:xfrm>
            <a:off x="274320" y="73152"/>
            <a:ext cx="859536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Amazon A2I — Amazon Augmented AI</a:t>
            </a:r>
            <a:endParaRPr lang="en-US" sz="2200" dirty="0"/>
          </a:p>
        </p:txBody>
      </p:sp>
      <p:sp>
        <p:nvSpPr>
          <p:cNvPr id="4" name="Text 2"/>
          <p:cNvSpPr/>
          <p:nvPr/>
        </p:nvSpPr>
        <p:spPr>
          <a:xfrm>
            <a:off x="365760" y="914400"/>
            <a:ext cx="4846320" cy="457200"/>
          </a:xfrm>
          <a:prstGeom prst="rect">
            <a:avLst/>
          </a:prstGeom>
          <a:noFill/>
          <a:ln/>
        </p:spPr>
        <p:txBody>
          <a:bodyPr wrap="square" rtlCol="0" anchor="ctr"/>
          <a:lstStyle/>
          <a:p>
            <a:pPr indent="0" marL="0">
              <a:buNone/>
            </a:pPr>
            <a:r>
              <a:rPr lang="en-US" sz="1800" b="1" dirty="0">
                <a:solidFill>
                  <a:srgbClr val="0A2342"/>
                </a:solidFill>
                <a:latin typeface="Calibri" pitchFamily="34" charset="0"/>
                <a:ea typeface="Calibri" pitchFamily="34" charset="-122"/>
                <a:cs typeface="Calibri" pitchFamily="34" charset="-120"/>
              </a:rPr>
              <a:t>What is Amazon A2I?</a:t>
            </a:r>
            <a:endParaRPr lang="en-US" sz="1800" dirty="0"/>
          </a:p>
        </p:txBody>
      </p:sp>
      <p:sp>
        <p:nvSpPr>
          <p:cNvPr id="5" name="Text 3"/>
          <p:cNvSpPr/>
          <p:nvPr/>
        </p:nvSpPr>
        <p:spPr>
          <a:xfrm>
            <a:off x="365760" y="1417320"/>
            <a:ext cx="4846320" cy="3108960"/>
          </a:xfrm>
          <a:prstGeom prst="rect">
            <a:avLst/>
          </a:prstGeom>
          <a:noFill/>
          <a:ln/>
        </p:spPr>
        <p:txBody>
          <a:bodyPr wrap="square" rtlCol="0" anchor="t"/>
          <a:lstStyle/>
          <a:p>
            <a:pPr indent="0" marL="0">
              <a:buNone/>
            </a:pPr>
            <a:r>
              <a:rPr lang="en-US" sz="1400" dirty="0">
                <a:solidFill>
                  <a:srgbClr val="37474F"/>
                </a:solidFill>
                <a:latin typeface="Calibri" pitchFamily="34" charset="0"/>
                <a:ea typeface="Calibri" pitchFamily="34" charset="-122"/>
                <a:cs typeface="Calibri" pitchFamily="34" charset="-120"/>
              </a:rPr>
              <a:t>Amazon A2I is a fully managed AWS service that adds human intelligence into ML workflows.
</a:t>
            </a:r>
            <a:pPr indent="0" marL="0">
              <a:buNone/>
            </a:pPr>
            <a:r>
              <a:rPr lang="en-US" sz="1400" dirty="0">
                <a:solidFill>
                  <a:srgbClr val="37474F"/>
                </a:solidFill>
                <a:latin typeface="Calibri" pitchFamily="34" charset="0"/>
                <a:ea typeface="Calibri" pitchFamily="34" charset="-122"/>
                <a:cs typeface="Calibri" pitchFamily="34" charset="-120"/>
              </a:rPr>
              <a:t>It automatically routes uncertain or low-confidence predictions to human reviewers for validation — before the result is finalized.
</a:t>
            </a:r>
            <a:pPr indent="0" marL="0">
              <a:buNone/>
            </a:pPr>
            <a:r>
              <a:rPr lang="en-US" sz="1400" b="1" dirty="0">
                <a:solidFill>
                  <a:srgbClr val="37474F"/>
                </a:solidFill>
                <a:latin typeface="Calibri" pitchFamily="34" charset="0"/>
                <a:ea typeface="Calibri" pitchFamily="34" charset="-122"/>
                <a:cs typeface="Calibri" pitchFamily="34" charset="-120"/>
              </a:rPr>
              <a:t>Why it matters:
</a:t>
            </a:r>
            <a:pPr indent="0" marL="0">
              <a:buNone/>
            </a:pPr>
            <a:r>
              <a:rPr lang="en-US" sz="1400" dirty="0">
                <a:solidFill>
                  <a:srgbClr val="37474F"/>
                </a:solidFill>
                <a:latin typeface="Calibri" pitchFamily="34" charset="0"/>
                <a:ea typeface="Calibri" pitchFamily="34" charset="-122"/>
                <a:cs typeface="Calibri" pitchFamily="34" charset="-120"/>
              </a:rPr>
              <a:t>Building human review systems manually is slow, expensive, and complex. A2I removes this burden.</a:t>
            </a:r>
            <a:endParaRPr lang="en-US" sz="1400" dirty="0"/>
          </a:p>
        </p:txBody>
      </p:sp>
      <p:sp>
        <p:nvSpPr>
          <p:cNvPr id="6" name="Shape 4"/>
          <p:cNvSpPr/>
          <p:nvPr/>
        </p:nvSpPr>
        <p:spPr>
          <a:xfrm>
            <a:off x="5394960" y="868680"/>
            <a:ext cx="3383280" cy="1051560"/>
          </a:xfrm>
          <a:prstGeom prst="rect">
            <a:avLst/>
          </a:prstGeom>
          <a:solidFill>
            <a:srgbClr val="1565C0"/>
          </a:solidFill>
          <a:ln/>
          <a:effectLst>
            <a:outerShdw sx="100000" sy="100000" kx="0" ky="0" algn="bl" rotWithShape="0" blurRad="63500" dist="25400" dir="8100000">
              <a:srgbClr val="000000">
                <a:alpha val="12000"/>
              </a:srgbClr>
            </a:outerShdw>
          </a:effectLst>
        </p:spPr>
      </p:sp>
      <p:sp>
        <p:nvSpPr>
          <p:cNvPr id="7" name="Text 5"/>
          <p:cNvSpPr/>
          <p:nvPr/>
        </p:nvSpPr>
        <p:spPr>
          <a:xfrm>
            <a:off x="5440680" y="914400"/>
            <a:ext cx="329184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Managed Service</a:t>
            </a:r>
            <a:endParaRPr lang="en-US" sz="1300" dirty="0"/>
          </a:p>
        </p:txBody>
      </p:sp>
      <p:sp>
        <p:nvSpPr>
          <p:cNvPr id="8" name="Text 6"/>
          <p:cNvSpPr/>
          <p:nvPr/>
        </p:nvSpPr>
        <p:spPr>
          <a:xfrm>
            <a:off x="5440680" y="1271016"/>
            <a:ext cx="329184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 infrastructure to build or maintain</a:t>
            </a:r>
            <a:endParaRPr lang="en-US" sz="1200" dirty="0"/>
          </a:p>
        </p:txBody>
      </p:sp>
      <p:sp>
        <p:nvSpPr>
          <p:cNvPr id="9" name="Shape 7"/>
          <p:cNvSpPr/>
          <p:nvPr/>
        </p:nvSpPr>
        <p:spPr>
          <a:xfrm>
            <a:off x="5394960" y="2103120"/>
            <a:ext cx="3383280" cy="1051560"/>
          </a:xfrm>
          <a:prstGeom prst="rect">
            <a:avLst/>
          </a:prstGeom>
          <a:solidFill>
            <a:srgbClr val="00897B"/>
          </a:solidFill>
          <a:ln/>
          <a:effectLst>
            <a:outerShdw sx="100000" sy="100000" kx="0" ky="0" algn="bl" rotWithShape="0" blurRad="63500" dist="25400" dir="8100000">
              <a:srgbClr val="000000">
                <a:alpha val="12000"/>
              </a:srgbClr>
            </a:outerShdw>
          </a:effectLst>
        </p:spPr>
      </p:sp>
      <p:sp>
        <p:nvSpPr>
          <p:cNvPr id="10" name="Text 8"/>
          <p:cNvSpPr/>
          <p:nvPr/>
        </p:nvSpPr>
        <p:spPr>
          <a:xfrm>
            <a:off x="5440680" y="2148840"/>
            <a:ext cx="329184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Confidence-Based Routing</a:t>
            </a:r>
            <a:endParaRPr lang="en-US" sz="1300" dirty="0"/>
          </a:p>
        </p:txBody>
      </p:sp>
      <p:sp>
        <p:nvSpPr>
          <p:cNvPr id="11" name="Text 9"/>
          <p:cNvSpPr/>
          <p:nvPr/>
        </p:nvSpPr>
        <p:spPr>
          <a:xfrm>
            <a:off x="5440680" y="2505456"/>
            <a:ext cx="329184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Only sends low-confidence results to humans</a:t>
            </a:r>
            <a:endParaRPr lang="en-US" sz="1200" dirty="0"/>
          </a:p>
        </p:txBody>
      </p:sp>
      <p:sp>
        <p:nvSpPr>
          <p:cNvPr id="12" name="Shape 10"/>
          <p:cNvSpPr/>
          <p:nvPr/>
        </p:nvSpPr>
        <p:spPr>
          <a:xfrm>
            <a:off x="5394960" y="3337560"/>
            <a:ext cx="3383280" cy="1051560"/>
          </a:xfrm>
          <a:prstGeom prst="rect">
            <a:avLst/>
          </a:prstGeom>
          <a:solidFill>
            <a:srgbClr val="6A1B9A"/>
          </a:solidFill>
          <a:ln/>
          <a:effectLst>
            <a:outerShdw sx="100000" sy="100000" kx="0" ky="0" algn="bl" rotWithShape="0" blurRad="63500" dist="25400" dir="8100000">
              <a:srgbClr val="000000">
                <a:alpha val="12000"/>
              </a:srgbClr>
            </a:outerShdw>
          </a:effectLst>
        </p:spPr>
      </p:sp>
      <p:sp>
        <p:nvSpPr>
          <p:cNvPr id="13" name="Text 11"/>
          <p:cNvSpPr/>
          <p:nvPr/>
        </p:nvSpPr>
        <p:spPr>
          <a:xfrm>
            <a:off x="5440680" y="3383280"/>
            <a:ext cx="329184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Flexible Workforce</a:t>
            </a:r>
            <a:endParaRPr lang="en-US" sz="1300" dirty="0"/>
          </a:p>
        </p:txBody>
      </p:sp>
      <p:sp>
        <p:nvSpPr>
          <p:cNvPr id="14" name="Text 12"/>
          <p:cNvSpPr/>
          <p:nvPr/>
        </p:nvSpPr>
        <p:spPr>
          <a:xfrm>
            <a:off x="5440680" y="3739896"/>
            <a:ext cx="329184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Internal teams, vendors, or Amazon Mechanical Turk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565C0"/>
          </a:solidFill>
          <a:ln/>
        </p:spPr>
      </p:sp>
      <p:sp>
        <p:nvSpPr>
          <p:cNvPr id="3" name="Text 1"/>
          <p:cNvSpPr/>
          <p:nvPr/>
        </p:nvSpPr>
        <p:spPr>
          <a:xfrm>
            <a:off x="274320" y="73152"/>
            <a:ext cx="859536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Amazon A2I — How It Works &amp; Use Cases</a:t>
            </a:r>
            <a:endParaRPr lang="en-US" sz="2200" dirty="0"/>
          </a:p>
        </p:txBody>
      </p:sp>
      <p:sp>
        <p:nvSpPr>
          <p:cNvPr id="4" name="Text 2"/>
          <p:cNvSpPr/>
          <p:nvPr/>
        </p:nvSpPr>
        <p:spPr>
          <a:xfrm>
            <a:off x="274320" y="777240"/>
            <a:ext cx="8595360" cy="365760"/>
          </a:xfrm>
          <a:prstGeom prst="rect">
            <a:avLst/>
          </a:prstGeom>
          <a:noFill/>
          <a:ln/>
        </p:spPr>
        <p:txBody>
          <a:bodyPr wrap="square" rtlCol="0" anchor="ctr"/>
          <a:lstStyle/>
          <a:p>
            <a:pPr indent="0" marL="0">
              <a:buNone/>
            </a:pPr>
            <a:r>
              <a:rPr lang="en-US" sz="1500" b="1" dirty="0">
                <a:solidFill>
                  <a:srgbClr val="0A2342"/>
                </a:solidFill>
                <a:latin typeface="Calibri" pitchFamily="34" charset="0"/>
                <a:ea typeface="Calibri" pitchFamily="34" charset="-122"/>
                <a:cs typeface="Calibri" pitchFamily="34" charset="-120"/>
              </a:rPr>
              <a:t>Human Review Flow (HumanLoop)</a:t>
            </a:r>
            <a:endParaRPr lang="en-US" sz="1500" dirty="0"/>
          </a:p>
        </p:txBody>
      </p:sp>
      <p:sp>
        <p:nvSpPr>
          <p:cNvPr id="5" name="Shape 3"/>
          <p:cNvSpPr/>
          <p:nvPr/>
        </p:nvSpPr>
        <p:spPr>
          <a:xfrm>
            <a:off x="365760" y="1234440"/>
            <a:ext cx="1737360" cy="1005840"/>
          </a:xfrm>
          <a:prstGeom prst="rect">
            <a:avLst/>
          </a:prstGeom>
          <a:solidFill>
            <a:srgbClr val="1E88E5"/>
          </a:solidFill>
          <a:ln/>
          <a:effectLst>
            <a:outerShdw sx="100000" sy="100000" kx="0" ky="0" algn="bl" rotWithShape="0" blurRad="63500" dist="25400" dir="8100000">
              <a:srgbClr val="000000">
                <a:alpha val="12000"/>
              </a:srgbClr>
            </a:outerShdw>
          </a:effectLst>
        </p:spPr>
      </p:sp>
      <p:sp>
        <p:nvSpPr>
          <p:cNvPr id="6" name="Text 4"/>
          <p:cNvSpPr/>
          <p:nvPr/>
        </p:nvSpPr>
        <p:spPr>
          <a:xfrm>
            <a:off x="365760" y="1234440"/>
            <a:ext cx="34747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365760" y="1554480"/>
            <a:ext cx="173736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Prediction</a:t>
            </a:r>
            <a:endParaRPr lang="en-US" sz="1200" dirty="0"/>
          </a:p>
        </p:txBody>
      </p:sp>
      <p:sp>
        <p:nvSpPr>
          <p:cNvPr id="8" name="Shape 6"/>
          <p:cNvSpPr/>
          <p:nvPr/>
        </p:nvSpPr>
        <p:spPr>
          <a:xfrm>
            <a:off x="2103120" y="1691640"/>
            <a:ext cx="347472" cy="73152"/>
          </a:xfrm>
          <a:prstGeom prst="rect">
            <a:avLst/>
          </a:prstGeom>
          <a:solidFill>
            <a:srgbClr val="90A4AE"/>
          </a:solidFill>
          <a:ln/>
        </p:spPr>
      </p:sp>
      <p:sp>
        <p:nvSpPr>
          <p:cNvPr id="9" name="Text 7"/>
          <p:cNvSpPr/>
          <p:nvPr/>
        </p:nvSpPr>
        <p:spPr>
          <a:xfrm>
            <a:off x="2395728" y="1600200"/>
            <a:ext cx="182880" cy="256032"/>
          </a:xfrm>
          <a:prstGeom prst="rect">
            <a:avLst/>
          </a:prstGeom>
          <a:noFill/>
          <a:ln/>
        </p:spPr>
        <p:txBody>
          <a:bodyPr wrap="square" rtlCol="0" anchor="ctr"/>
          <a:lstStyle/>
          <a:p>
            <a:pPr indent="0" marL="0">
              <a:buNone/>
            </a:pPr>
            <a:r>
              <a:rPr lang="en-US" sz="1400" dirty="0">
                <a:solidFill>
                  <a:srgbClr val="90A4AE"/>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468880" y="1234440"/>
            <a:ext cx="1737360" cy="1005840"/>
          </a:xfrm>
          <a:prstGeom prst="rect">
            <a:avLst/>
          </a:prstGeom>
          <a:solidFill>
            <a:srgbClr val="00897B"/>
          </a:solidFill>
          <a:ln/>
          <a:effectLst>
            <a:outerShdw sx="100000" sy="100000" kx="0" ky="0" algn="bl" rotWithShape="0" blurRad="63500" dist="25400" dir="8100000">
              <a:srgbClr val="000000">
                <a:alpha val="12000"/>
              </a:srgbClr>
            </a:outerShdw>
          </a:effectLst>
        </p:spPr>
      </p:sp>
      <p:sp>
        <p:nvSpPr>
          <p:cNvPr id="11" name="Text 9"/>
          <p:cNvSpPr/>
          <p:nvPr/>
        </p:nvSpPr>
        <p:spPr>
          <a:xfrm>
            <a:off x="2468880" y="1234440"/>
            <a:ext cx="34747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2468880" y="1554480"/>
            <a:ext cx="173736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Confidence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13" name="Shape 11"/>
          <p:cNvSpPr/>
          <p:nvPr/>
        </p:nvSpPr>
        <p:spPr>
          <a:xfrm>
            <a:off x="4206240" y="1691640"/>
            <a:ext cx="347472" cy="73152"/>
          </a:xfrm>
          <a:prstGeom prst="rect">
            <a:avLst/>
          </a:prstGeom>
          <a:solidFill>
            <a:srgbClr val="90A4AE"/>
          </a:solidFill>
          <a:ln/>
        </p:spPr>
      </p:sp>
      <p:sp>
        <p:nvSpPr>
          <p:cNvPr id="14" name="Text 12"/>
          <p:cNvSpPr/>
          <p:nvPr/>
        </p:nvSpPr>
        <p:spPr>
          <a:xfrm>
            <a:off x="4498848" y="1600200"/>
            <a:ext cx="182880" cy="256032"/>
          </a:xfrm>
          <a:prstGeom prst="rect">
            <a:avLst/>
          </a:prstGeom>
          <a:noFill/>
          <a:ln/>
        </p:spPr>
        <p:txBody>
          <a:bodyPr wrap="square" rtlCol="0" anchor="ctr"/>
          <a:lstStyle/>
          <a:p>
            <a:pPr indent="0" marL="0">
              <a:buNone/>
            </a:pPr>
            <a:r>
              <a:rPr lang="en-US" sz="1400" dirty="0">
                <a:solidFill>
                  <a:srgbClr val="90A4AE"/>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4572000" y="1234440"/>
            <a:ext cx="1737360" cy="1005840"/>
          </a:xfrm>
          <a:prstGeom prst="rect">
            <a:avLst/>
          </a:prstGeom>
          <a:solidFill>
            <a:srgbClr val="FF6F00"/>
          </a:solidFill>
          <a:ln/>
          <a:effectLst>
            <a:outerShdw sx="100000" sy="100000" kx="0" ky="0" algn="bl" rotWithShape="0" blurRad="63500" dist="25400" dir="8100000">
              <a:srgbClr val="000000">
                <a:alpha val="12000"/>
              </a:srgbClr>
            </a:outerShdw>
          </a:effectLst>
        </p:spPr>
      </p:sp>
      <p:sp>
        <p:nvSpPr>
          <p:cNvPr id="16" name="Text 14"/>
          <p:cNvSpPr/>
          <p:nvPr/>
        </p:nvSpPr>
        <p:spPr>
          <a:xfrm>
            <a:off x="4572000" y="1234440"/>
            <a:ext cx="34747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4572000" y="1554480"/>
            <a:ext cx="173736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Human</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p>
        </p:txBody>
      </p:sp>
      <p:sp>
        <p:nvSpPr>
          <p:cNvPr id="18" name="Shape 16"/>
          <p:cNvSpPr/>
          <p:nvPr/>
        </p:nvSpPr>
        <p:spPr>
          <a:xfrm>
            <a:off x="6309360" y="1691640"/>
            <a:ext cx="347472" cy="73152"/>
          </a:xfrm>
          <a:prstGeom prst="rect">
            <a:avLst/>
          </a:prstGeom>
          <a:solidFill>
            <a:srgbClr val="90A4AE"/>
          </a:solidFill>
          <a:ln/>
        </p:spPr>
      </p:sp>
      <p:sp>
        <p:nvSpPr>
          <p:cNvPr id="19" name="Text 17"/>
          <p:cNvSpPr/>
          <p:nvPr/>
        </p:nvSpPr>
        <p:spPr>
          <a:xfrm>
            <a:off x="6601968" y="1600200"/>
            <a:ext cx="182880" cy="256032"/>
          </a:xfrm>
          <a:prstGeom prst="rect">
            <a:avLst/>
          </a:prstGeom>
          <a:noFill/>
          <a:ln/>
        </p:spPr>
        <p:txBody>
          <a:bodyPr wrap="square" rtlCol="0" anchor="ctr"/>
          <a:lstStyle/>
          <a:p>
            <a:pPr indent="0" marL="0">
              <a:buNone/>
            </a:pPr>
            <a:r>
              <a:rPr lang="en-US" sz="1400" dirty="0">
                <a:solidFill>
                  <a:srgbClr val="90A4AE"/>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6675120" y="1234440"/>
            <a:ext cx="1737360" cy="1005840"/>
          </a:xfrm>
          <a:prstGeom prst="rect">
            <a:avLst/>
          </a:prstGeom>
          <a:solidFill>
            <a:srgbClr val="2E7D32"/>
          </a:solidFill>
          <a:ln/>
          <a:effectLst>
            <a:outerShdw sx="100000" sy="100000" kx="0" ky="0" algn="bl" rotWithShape="0" blurRad="63500" dist="25400" dir="8100000">
              <a:srgbClr val="000000">
                <a:alpha val="12000"/>
              </a:srgbClr>
            </a:outerShdw>
          </a:effectLst>
        </p:spPr>
      </p:sp>
      <p:sp>
        <p:nvSpPr>
          <p:cNvPr id="21" name="Text 19"/>
          <p:cNvSpPr/>
          <p:nvPr/>
        </p:nvSpPr>
        <p:spPr>
          <a:xfrm>
            <a:off x="6675120" y="1234440"/>
            <a:ext cx="34747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675120" y="1554480"/>
            <a:ext cx="173736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Final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p>
        </p:txBody>
      </p:sp>
      <p:sp>
        <p:nvSpPr>
          <p:cNvPr id="23" name="Text 21"/>
          <p:cNvSpPr/>
          <p:nvPr/>
        </p:nvSpPr>
        <p:spPr>
          <a:xfrm>
            <a:off x="1737360" y="2286000"/>
            <a:ext cx="3657600" cy="320040"/>
          </a:xfrm>
          <a:prstGeom prst="rect">
            <a:avLst/>
          </a:prstGeom>
          <a:noFill/>
          <a:ln/>
        </p:spPr>
        <p:txBody>
          <a:bodyPr wrap="square" rtlCol="0" anchor="ctr"/>
          <a:lstStyle/>
          <a:p>
            <a:pPr algn="ctr" indent="0" marL="0">
              <a:buNone/>
            </a:pPr>
            <a:r>
              <a:rPr lang="en-US" sz="1100" i="1" dirty="0">
                <a:solidFill>
                  <a:srgbClr val="90A4AE"/>
                </a:solidFill>
                <a:latin typeface="Calibri" pitchFamily="34" charset="0"/>
                <a:ea typeface="Calibri" pitchFamily="34" charset="-122"/>
                <a:cs typeface="Calibri" pitchFamily="34" charset="-120"/>
              </a:rPr>
              <a:t>Low confidence triggers human review</a:t>
            </a:r>
            <a:endParaRPr lang="en-US" sz="1100" dirty="0"/>
          </a:p>
        </p:txBody>
      </p:sp>
      <p:sp>
        <p:nvSpPr>
          <p:cNvPr id="24" name="Text 22"/>
          <p:cNvSpPr/>
          <p:nvPr/>
        </p:nvSpPr>
        <p:spPr>
          <a:xfrm>
            <a:off x="274320" y="2788920"/>
            <a:ext cx="8595360" cy="365760"/>
          </a:xfrm>
          <a:prstGeom prst="rect">
            <a:avLst/>
          </a:prstGeom>
          <a:noFill/>
          <a:ln/>
        </p:spPr>
        <p:txBody>
          <a:bodyPr wrap="square" rtlCol="0" anchor="ctr"/>
          <a:lstStyle/>
          <a:p>
            <a:pPr indent="0" marL="0">
              <a:buNone/>
            </a:pPr>
            <a:r>
              <a:rPr lang="en-US" sz="1500" b="1" dirty="0">
                <a:solidFill>
                  <a:srgbClr val="0A2342"/>
                </a:solidFill>
                <a:latin typeface="Calibri" pitchFamily="34" charset="0"/>
                <a:ea typeface="Calibri" pitchFamily="34" charset="-122"/>
                <a:cs typeface="Calibri" pitchFamily="34" charset="-120"/>
              </a:rPr>
              <a:t>Key Use Cases</a:t>
            </a:r>
            <a:endParaRPr lang="en-US" sz="1500" dirty="0"/>
          </a:p>
        </p:txBody>
      </p:sp>
      <p:sp>
        <p:nvSpPr>
          <p:cNvPr id="25" name="Shape 23"/>
          <p:cNvSpPr/>
          <p:nvPr/>
        </p:nvSpPr>
        <p:spPr>
          <a:xfrm>
            <a:off x="274320" y="3200400"/>
            <a:ext cx="2743200" cy="1600200"/>
          </a:xfrm>
          <a:prstGeom prst="rect">
            <a:avLst/>
          </a:prstGeom>
          <a:solidFill>
            <a:srgbClr val="E3F2FD"/>
          </a:solidFill>
          <a:ln/>
          <a:effectLst>
            <a:outerShdw sx="100000" sy="100000" kx="0" ky="0" algn="bl" rotWithShape="0" blurRad="63500" dist="25400" dir="8100000">
              <a:srgbClr val="000000">
                <a:alpha val="12000"/>
              </a:srgbClr>
            </a:outerShdw>
          </a:effectLst>
        </p:spPr>
      </p:sp>
      <p:sp>
        <p:nvSpPr>
          <p:cNvPr id="26" name="Text 24"/>
          <p:cNvSpPr/>
          <p:nvPr/>
        </p:nvSpPr>
        <p:spPr>
          <a:xfrm>
            <a:off x="365760" y="3246120"/>
            <a:ext cx="2560320" cy="411480"/>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Document Processing</a:t>
            </a:r>
            <a:endParaRPr lang="en-US" sz="1300" dirty="0"/>
          </a:p>
        </p:txBody>
      </p:sp>
      <p:sp>
        <p:nvSpPr>
          <p:cNvPr id="27" name="Text 25"/>
          <p:cNvSpPr/>
          <p:nvPr/>
        </p:nvSpPr>
        <p:spPr>
          <a:xfrm>
            <a:off x="365760" y="3675888"/>
            <a:ext cx="2560320" cy="1005840"/>
          </a:xfrm>
          <a:prstGeom prst="rect">
            <a:avLst/>
          </a:prstGeom>
          <a:noFill/>
          <a:ln/>
        </p:spPr>
        <p:txBody>
          <a:bodyPr wrap="square" rtlCol="0" anchor="t"/>
          <a:lstStyle/>
          <a:p>
            <a:pPr indent="0" marL="0">
              <a:buNone/>
            </a:pPr>
            <a:r>
              <a:rPr lang="en-US" sz="1200" dirty="0">
                <a:solidFill>
                  <a:srgbClr val="37474F"/>
                </a:solidFill>
                <a:latin typeface="Calibri" pitchFamily="34" charset="0"/>
                <a:ea typeface="Calibri" pitchFamily="34" charset="-122"/>
                <a:cs typeface="Calibri" pitchFamily="34" charset="-120"/>
              </a:rPr>
              <a:t>PII redaction, form data extraction (e.g. mortgage forms)</a:t>
            </a:r>
            <a:endParaRPr lang="en-US" sz="1200" dirty="0"/>
          </a:p>
        </p:txBody>
      </p:sp>
      <p:sp>
        <p:nvSpPr>
          <p:cNvPr id="28" name="Shape 26"/>
          <p:cNvSpPr/>
          <p:nvPr/>
        </p:nvSpPr>
        <p:spPr>
          <a:xfrm>
            <a:off x="3227832" y="3200400"/>
            <a:ext cx="2743200" cy="1600200"/>
          </a:xfrm>
          <a:prstGeom prst="rect">
            <a:avLst/>
          </a:prstGeom>
          <a:solidFill>
            <a:srgbClr val="E8F5E9"/>
          </a:solidFill>
          <a:ln/>
          <a:effectLst>
            <a:outerShdw sx="100000" sy="100000" kx="0" ky="0" algn="bl" rotWithShape="0" blurRad="63500" dist="25400" dir="8100000">
              <a:srgbClr val="000000">
                <a:alpha val="12000"/>
              </a:srgbClr>
            </a:outerShdw>
          </a:effectLst>
        </p:spPr>
      </p:sp>
      <p:sp>
        <p:nvSpPr>
          <p:cNvPr id="29" name="Text 27"/>
          <p:cNvSpPr/>
          <p:nvPr/>
        </p:nvSpPr>
        <p:spPr>
          <a:xfrm>
            <a:off x="3319272" y="3246120"/>
            <a:ext cx="2560320" cy="411480"/>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Content Moderation</a:t>
            </a:r>
            <a:endParaRPr lang="en-US" sz="1300" dirty="0"/>
          </a:p>
        </p:txBody>
      </p:sp>
      <p:sp>
        <p:nvSpPr>
          <p:cNvPr id="30" name="Text 28"/>
          <p:cNvSpPr/>
          <p:nvPr/>
        </p:nvSpPr>
        <p:spPr>
          <a:xfrm>
            <a:off x="3319272" y="3675888"/>
            <a:ext cx="2560320" cy="1005840"/>
          </a:xfrm>
          <a:prstGeom prst="rect">
            <a:avLst/>
          </a:prstGeom>
          <a:noFill/>
          <a:ln/>
        </p:spPr>
        <p:txBody>
          <a:bodyPr wrap="square" rtlCol="0" anchor="t"/>
          <a:lstStyle/>
          <a:p>
            <a:pPr indent="0" marL="0">
              <a:buNone/>
            </a:pPr>
            <a:r>
              <a:rPr lang="en-US" sz="1200" dirty="0">
                <a:solidFill>
                  <a:srgbClr val="37474F"/>
                </a:solidFill>
                <a:latin typeface="Calibri" pitchFamily="34" charset="0"/>
                <a:ea typeface="Calibri" pitchFamily="34" charset="-122"/>
                <a:cs typeface="Calibri" pitchFamily="34" charset="-120"/>
              </a:rPr>
              <a:t>Flag inappropriate images or text for human review</a:t>
            </a:r>
            <a:endParaRPr lang="en-US" sz="1200" dirty="0"/>
          </a:p>
        </p:txBody>
      </p:sp>
      <p:sp>
        <p:nvSpPr>
          <p:cNvPr id="31" name="Shape 29"/>
          <p:cNvSpPr/>
          <p:nvPr/>
        </p:nvSpPr>
        <p:spPr>
          <a:xfrm>
            <a:off x="6181344" y="3200400"/>
            <a:ext cx="2743200" cy="1600200"/>
          </a:xfrm>
          <a:prstGeom prst="rect">
            <a:avLst/>
          </a:prstGeom>
          <a:solidFill>
            <a:srgbClr val="FFF8E1"/>
          </a:solidFill>
          <a:ln/>
          <a:effectLst>
            <a:outerShdw sx="100000" sy="100000" kx="0" ky="0" algn="bl" rotWithShape="0" blurRad="63500" dist="25400" dir="8100000">
              <a:srgbClr val="000000">
                <a:alpha val="12000"/>
              </a:srgbClr>
            </a:outerShdw>
          </a:effectLst>
        </p:spPr>
      </p:sp>
      <p:sp>
        <p:nvSpPr>
          <p:cNvPr id="32" name="Text 30"/>
          <p:cNvSpPr/>
          <p:nvPr/>
        </p:nvSpPr>
        <p:spPr>
          <a:xfrm>
            <a:off x="6272784" y="3246120"/>
            <a:ext cx="2560320" cy="411480"/>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Finance &amp; Healthcare</a:t>
            </a:r>
            <a:endParaRPr lang="en-US" sz="1300" dirty="0"/>
          </a:p>
        </p:txBody>
      </p:sp>
      <p:sp>
        <p:nvSpPr>
          <p:cNvPr id="33" name="Text 31"/>
          <p:cNvSpPr/>
          <p:nvPr/>
        </p:nvSpPr>
        <p:spPr>
          <a:xfrm>
            <a:off x="6272784" y="3675888"/>
            <a:ext cx="2560320" cy="1005840"/>
          </a:xfrm>
          <a:prstGeom prst="rect">
            <a:avLst/>
          </a:prstGeom>
          <a:noFill/>
          <a:ln/>
        </p:spPr>
        <p:txBody>
          <a:bodyPr wrap="square" rtlCol="0" anchor="t"/>
          <a:lstStyle/>
          <a:p>
            <a:pPr indent="0" marL="0">
              <a:buNone/>
            </a:pPr>
            <a:r>
              <a:rPr lang="en-US" sz="1200" dirty="0">
                <a:solidFill>
                  <a:srgbClr val="37474F"/>
                </a:solidFill>
                <a:latin typeface="Calibri" pitchFamily="34" charset="0"/>
                <a:ea typeface="Calibri" pitchFamily="34" charset="-122"/>
                <a:cs typeface="Calibri" pitchFamily="34" charset="-120"/>
              </a:rPr>
              <a:t>High-stakes decisions requiring accuracy &amp; compliance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897B"/>
          </a:solidFill>
          <a:ln/>
        </p:spPr>
      </p:sp>
      <p:sp>
        <p:nvSpPr>
          <p:cNvPr id="3" name="Text 1"/>
          <p:cNvSpPr/>
          <p:nvPr/>
        </p:nvSpPr>
        <p:spPr>
          <a:xfrm>
            <a:off x="274320" y="73152"/>
            <a:ext cx="859536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Amazon Transcribe — Speech to Text Service</a:t>
            </a:r>
            <a:endParaRPr lang="en-US" sz="2200" dirty="0"/>
          </a:p>
        </p:txBody>
      </p:sp>
      <p:sp>
        <p:nvSpPr>
          <p:cNvPr id="4" name="Text 2"/>
          <p:cNvSpPr/>
          <p:nvPr/>
        </p:nvSpPr>
        <p:spPr>
          <a:xfrm>
            <a:off x="365760" y="822960"/>
            <a:ext cx="4754880" cy="457200"/>
          </a:xfrm>
          <a:prstGeom prst="rect">
            <a:avLst/>
          </a:prstGeom>
          <a:noFill/>
          <a:ln/>
        </p:spPr>
        <p:txBody>
          <a:bodyPr wrap="square" rtlCol="0" anchor="ctr"/>
          <a:lstStyle/>
          <a:p>
            <a:pPr indent="0" marL="0">
              <a:buNone/>
            </a:pPr>
            <a:r>
              <a:rPr lang="en-US" sz="1800" b="1" dirty="0">
                <a:solidFill>
                  <a:srgbClr val="0A2342"/>
                </a:solidFill>
                <a:latin typeface="Calibri" pitchFamily="34" charset="0"/>
                <a:ea typeface="Calibri" pitchFamily="34" charset="-122"/>
                <a:cs typeface="Calibri" pitchFamily="34" charset="-120"/>
              </a:rPr>
              <a:t>What is Amazon Transcribe?</a:t>
            </a:r>
            <a:endParaRPr lang="en-US" sz="1800" dirty="0"/>
          </a:p>
        </p:txBody>
      </p:sp>
      <p:sp>
        <p:nvSpPr>
          <p:cNvPr id="5" name="Text 3"/>
          <p:cNvSpPr/>
          <p:nvPr/>
        </p:nvSpPr>
        <p:spPr>
          <a:xfrm>
            <a:off x="365760" y="1325880"/>
            <a:ext cx="4754880" cy="3200400"/>
          </a:xfrm>
          <a:prstGeom prst="rect">
            <a:avLst/>
          </a:prstGeom>
          <a:noFill/>
          <a:ln/>
        </p:spPr>
        <p:txBody>
          <a:bodyPr wrap="square" rtlCol="0" anchor="t"/>
          <a:lstStyle/>
          <a:p>
            <a:pPr indent="0" marL="0">
              <a:buNone/>
            </a:pPr>
            <a:r>
              <a:rPr lang="en-US" sz="1400" dirty="0">
                <a:solidFill>
                  <a:srgbClr val="37474F"/>
                </a:solidFill>
                <a:latin typeface="Calibri" pitchFamily="34" charset="0"/>
                <a:ea typeface="Calibri" pitchFamily="34" charset="-122"/>
                <a:cs typeface="Calibri" pitchFamily="34" charset="-120"/>
              </a:rPr>
              <a:t>Amazon Transcribe is a fully managed Automatic Speech Recognition (ASR) service that converts spoken audio into accurate written text using deep learning.
</a:t>
            </a:r>
            <a:pPr indent="0" marL="0">
              <a:buNone/>
            </a:pPr>
            <a:r>
              <a:rPr lang="en-US" sz="1400" dirty="0">
                <a:solidFill>
                  <a:srgbClr val="37474F"/>
                </a:solidFill>
                <a:latin typeface="Calibri" pitchFamily="34" charset="0"/>
                <a:ea typeface="Calibri" pitchFamily="34" charset="-122"/>
                <a:cs typeface="Calibri" pitchFamily="34" charset="-120"/>
              </a:rPr>
              <a:t>It listens to audio or video input and generates transcripts automatically — no manual typing needed.
</a:t>
            </a:r>
            <a:pPr indent="0" marL="0">
              <a:buNone/>
            </a:pPr>
            <a:r>
              <a:rPr lang="en-US" sz="1400" b="1" dirty="0">
                <a:solidFill>
                  <a:srgbClr val="37474F"/>
                </a:solidFill>
                <a:latin typeface="Calibri" pitchFamily="34" charset="0"/>
                <a:ea typeface="Calibri" pitchFamily="34" charset="-122"/>
                <a:cs typeface="Calibri" pitchFamily="34" charset="-120"/>
              </a:rPr>
              <a:t>Pricing: </a:t>
            </a:r>
            <a:pPr indent="0" marL="0">
              <a:buNone/>
            </a:pPr>
            <a:r>
              <a:rPr lang="en-US" sz="1400" dirty="0">
                <a:solidFill>
                  <a:srgbClr val="37474F"/>
                </a:solidFill>
                <a:latin typeface="Calibri" pitchFamily="34" charset="0"/>
                <a:ea typeface="Calibri" pitchFamily="34" charset="-122"/>
                <a:cs typeface="Calibri" pitchFamily="34" charset="-120"/>
              </a:rPr>
              <a:t>~$0.024 per minute (pay-as-you-go). Free Tier: 60 mins/month for first 12 months.</a:t>
            </a:r>
            <a:endParaRPr lang="en-US" sz="1400" dirty="0"/>
          </a:p>
        </p:txBody>
      </p:sp>
      <p:sp>
        <p:nvSpPr>
          <p:cNvPr id="6" name="Shape 4"/>
          <p:cNvSpPr/>
          <p:nvPr/>
        </p:nvSpPr>
        <p:spPr>
          <a:xfrm>
            <a:off x="5349240" y="822960"/>
            <a:ext cx="1691640" cy="1188720"/>
          </a:xfrm>
          <a:prstGeom prst="rect">
            <a:avLst/>
          </a:prstGeom>
          <a:solidFill>
            <a:srgbClr val="00897B"/>
          </a:solidFill>
          <a:ln/>
          <a:effectLst>
            <a:outerShdw sx="100000" sy="100000" kx="0" ky="0" algn="bl" rotWithShape="0" blurRad="63500" dist="25400" dir="8100000">
              <a:srgbClr val="000000">
                <a:alpha val="12000"/>
              </a:srgbClr>
            </a:outerShdw>
          </a:effectLst>
        </p:spPr>
      </p:sp>
      <p:sp>
        <p:nvSpPr>
          <p:cNvPr id="7" name="Text 5"/>
          <p:cNvSpPr/>
          <p:nvPr/>
        </p:nvSpPr>
        <p:spPr>
          <a:xfrm>
            <a:off x="5404104" y="877824"/>
            <a:ext cx="1581912"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Real-Time Transcription</a:t>
            </a:r>
            <a:endParaRPr lang="en-US" sz="1100" dirty="0"/>
          </a:p>
        </p:txBody>
      </p:sp>
      <p:sp>
        <p:nvSpPr>
          <p:cNvPr id="8" name="Text 6"/>
          <p:cNvSpPr/>
          <p:nvPr/>
        </p:nvSpPr>
        <p:spPr>
          <a:xfrm>
            <a:off x="5404104" y="1325880"/>
            <a:ext cx="1581912" cy="5943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Live meetings, events, customer calls</a:t>
            </a:r>
            <a:endParaRPr lang="en-US" sz="1000" dirty="0"/>
          </a:p>
        </p:txBody>
      </p:sp>
      <p:sp>
        <p:nvSpPr>
          <p:cNvPr id="9" name="Shape 7"/>
          <p:cNvSpPr/>
          <p:nvPr/>
        </p:nvSpPr>
        <p:spPr>
          <a:xfrm>
            <a:off x="5349240" y="2194560"/>
            <a:ext cx="1691640" cy="1188720"/>
          </a:xfrm>
          <a:prstGeom prst="rect">
            <a:avLst/>
          </a:prstGeom>
          <a:solidFill>
            <a:srgbClr val="1E88E5"/>
          </a:solidFill>
          <a:ln/>
          <a:effectLst>
            <a:outerShdw sx="100000" sy="100000" kx="0" ky="0" algn="bl" rotWithShape="0" blurRad="63500" dist="25400" dir="8100000">
              <a:srgbClr val="000000">
                <a:alpha val="12000"/>
              </a:srgbClr>
            </a:outerShdw>
          </a:effectLst>
        </p:spPr>
      </p:sp>
      <p:sp>
        <p:nvSpPr>
          <p:cNvPr id="10" name="Text 8"/>
          <p:cNvSpPr/>
          <p:nvPr/>
        </p:nvSpPr>
        <p:spPr>
          <a:xfrm>
            <a:off x="5404104" y="2249424"/>
            <a:ext cx="1581912"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Batch Transcription</a:t>
            </a:r>
            <a:endParaRPr lang="en-US" sz="1100" dirty="0"/>
          </a:p>
        </p:txBody>
      </p:sp>
      <p:sp>
        <p:nvSpPr>
          <p:cNvPr id="11" name="Text 9"/>
          <p:cNvSpPr/>
          <p:nvPr/>
        </p:nvSpPr>
        <p:spPr>
          <a:xfrm>
            <a:off x="5404104" y="2697480"/>
            <a:ext cx="1581912" cy="5943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Recorded lectures, podcasts, interviews</a:t>
            </a:r>
            <a:endParaRPr lang="en-US" sz="1000" dirty="0"/>
          </a:p>
        </p:txBody>
      </p:sp>
      <p:sp>
        <p:nvSpPr>
          <p:cNvPr id="12" name="Shape 10"/>
          <p:cNvSpPr/>
          <p:nvPr/>
        </p:nvSpPr>
        <p:spPr>
          <a:xfrm>
            <a:off x="7178040" y="822960"/>
            <a:ext cx="1691640" cy="1188720"/>
          </a:xfrm>
          <a:prstGeom prst="rect">
            <a:avLst/>
          </a:prstGeom>
          <a:solidFill>
            <a:srgbClr val="6A1B9A"/>
          </a:solidFill>
          <a:ln/>
          <a:effectLst>
            <a:outerShdw sx="100000" sy="100000" kx="0" ky="0" algn="bl" rotWithShape="0" blurRad="63500" dist="25400" dir="8100000">
              <a:srgbClr val="000000">
                <a:alpha val="12000"/>
              </a:srgbClr>
            </a:outerShdw>
          </a:effectLst>
        </p:spPr>
      </p:sp>
      <p:sp>
        <p:nvSpPr>
          <p:cNvPr id="13" name="Text 11"/>
          <p:cNvSpPr/>
          <p:nvPr/>
        </p:nvSpPr>
        <p:spPr>
          <a:xfrm>
            <a:off x="7232904" y="877824"/>
            <a:ext cx="1581912"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Speaker Diarization</a:t>
            </a:r>
            <a:endParaRPr lang="en-US" sz="1100" dirty="0"/>
          </a:p>
        </p:txBody>
      </p:sp>
      <p:sp>
        <p:nvSpPr>
          <p:cNvPr id="14" name="Text 12"/>
          <p:cNvSpPr/>
          <p:nvPr/>
        </p:nvSpPr>
        <p:spPr>
          <a:xfrm>
            <a:off x="7232904" y="1325880"/>
            <a:ext cx="1581912" cy="5943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Identifies &amp; labels multiple speakers</a:t>
            </a:r>
            <a:endParaRPr lang="en-US" sz="1000" dirty="0"/>
          </a:p>
        </p:txBody>
      </p:sp>
      <p:sp>
        <p:nvSpPr>
          <p:cNvPr id="15" name="Shape 13"/>
          <p:cNvSpPr/>
          <p:nvPr/>
        </p:nvSpPr>
        <p:spPr>
          <a:xfrm>
            <a:off x="7178040" y="2194560"/>
            <a:ext cx="1691640" cy="1188720"/>
          </a:xfrm>
          <a:prstGeom prst="rect">
            <a:avLst/>
          </a:prstGeom>
          <a:solidFill>
            <a:srgbClr val="2E7D32"/>
          </a:solidFill>
          <a:ln/>
          <a:effectLst>
            <a:outerShdw sx="100000" sy="100000" kx="0" ky="0" algn="bl" rotWithShape="0" blurRad="63500" dist="25400" dir="8100000">
              <a:srgbClr val="000000">
                <a:alpha val="12000"/>
              </a:srgbClr>
            </a:outerShdw>
          </a:effectLst>
        </p:spPr>
      </p:sp>
      <p:sp>
        <p:nvSpPr>
          <p:cNvPr id="16" name="Text 14"/>
          <p:cNvSpPr/>
          <p:nvPr/>
        </p:nvSpPr>
        <p:spPr>
          <a:xfrm>
            <a:off x="7232904" y="2249424"/>
            <a:ext cx="1581912"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Custom Vocabulary</a:t>
            </a:r>
            <a:endParaRPr lang="en-US" sz="1100" dirty="0"/>
          </a:p>
        </p:txBody>
      </p:sp>
      <p:sp>
        <p:nvSpPr>
          <p:cNvPr id="17" name="Text 15"/>
          <p:cNvSpPr/>
          <p:nvPr/>
        </p:nvSpPr>
        <p:spPr>
          <a:xfrm>
            <a:off x="7232904" y="2697480"/>
            <a:ext cx="1581912" cy="5943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Adds domain-specific terms for accuracy</a:t>
            </a:r>
            <a:endParaRPr lang="en-US" sz="1000" dirty="0"/>
          </a:p>
        </p:txBody>
      </p:sp>
      <p:sp>
        <p:nvSpPr>
          <p:cNvPr id="18" name="Text 16"/>
          <p:cNvSpPr/>
          <p:nvPr/>
        </p:nvSpPr>
        <p:spPr>
          <a:xfrm>
            <a:off x="5349240" y="3749040"/>
            <a:ext cx="3520440" cy="320040"/>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Supported Output Formats:</a:t>
            </a:r>
            <a:endParaRPr lang="en-US" sz="1300" dirty="0"/>
          </a:p>
        </p:txBody>
      </p:sp>
      <p:sp>
        <p:nvSpPr>
          <p:cNvPr id="19" name="Text 17"/>
          <p:cNvSpPr/>
          <p:nvPr/>
        </p:nvSpPr>
        <p:spPr>
          <a:xfrm>
            <a:off x="5349240" y="4069080"/>
            <a:ext cx="3520440" cy="320040"/>
          </a:xfrm>
          <a:prstGeom prst="rect">
            <a:avLst/>
          </a:prstGeom>
          <a:noFill/>
          <a:ln/>
        </p:spPr>
        <p:txBody>
          <a:bodyPr wrap="square" rtlCol="0" anchor="ctr"/>
          <a:lstStyle/>
          <a:p>
            <a:pPr indent="0" marL="0">
              <a:buNone/>
            </a:pPr>
            <a:r>
              <a:rPr lang="en-US" sz="1200" dirty="0">
                <a:solidFill>
                  <a:srgbClr val="37474F"/>
                </a:solidFill>
                <a:latin typeface="Calibri" pitchFamily="34" charset="0"/>
                <a:ea typeface="Calibri" pitchFamily="34" charset="-122"/>
                <a:cs typeface="Calibri" pitchFamily="34" charset="-120"/>
              </a:rPr>
              <a:t>JSON  |  TXT  |  SRT  |  VTT (Subtitles)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897B"/>
          </a:solidFill>
          <a:ln/>
        </p:spPr>
      </p:sp>
      <p:sp>
        <p:nvSpPr>
          <p:cNvPr id="3" name="Text 1"/>
          <p:cNvSpPr/>
          <p:nvPr/>
        </p:nvSpPr>
        <p:spPr>
          <a:xfrm>
            <a:off x="274320" y="73152"/>
            <a:ext cx="859536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Amazon Transcribe — Architecture &amp; Industry Use Cases</a:t>
            </a:r>
            <a:endParaRPr lang="en-US" sz="2200" dirty="0"/>
          </a:p>
        </p:txBody>
      </p:sp>
      <p:sp>
        <p:nvSpPr>
          <p:cNvPr id="4" name="Text 2"/>
          <p:cNvSpPr/>
          <p:nvPr/>
        </p:nvSpPr>
        <p:spPr>
          <a:xfrm>
            <a:off x="274320" y="777240"/>
            <a:ext cx="8595360" cy="365760"/>
          </a:xfrm>
          <a:prstGeom prst="rect">
            <a:avLst/>
          </a:prstGeom>
          <a:noFill/>
          <a:ln/>
        </p:spPr>
        <p:txBody>
          <a:bodyPr wrap="square" rtlCol="0" anchor="ctr"/>
          <a:lstStyle/>
          <a:p>
            <a:pPr indent="0" marL="0">
              <a:buNone/>
            </a:pPr>
            <a:r>
              <a:rPr lang="en-US" sz="1500" b="1" dirty="0">
                <a:solidFill>
                  <a:srgbClr val="0A2342"/>
                </a:solidFill>
                <a:latin typeface="Calibri" pitchFamily="34" charset="0"/>
                <a:ea typeface="Calibri" pitchFamily="34" charset="-122"/>
                <a:cs typeface="Calibri" pitchFamily="34" charset="-120"/>
              </a:rPr>
              <a:t>How It Processes Audio (Step-by-Step)</a:t>
            </a:r>
            <a:endParaRPr lang="en-US" sz="1500" dirty="0"/>
          </a:p>
        </p:txBody>
      </p:sp>
      <p:sp>
        <p:nvSpPr>
          <p:cNvPr id="5" name="Shape 3"/>
          <p:cNvSpPr/>
          <p:nvPr/>
        </p:nvSpPr>
        <p:spPr>
          <a:xfrm>
            <a:off x="274320" y="1234440"/>
            <a:ext cx="1828800" cy="1005840"/>
          </a:xfrm>
          <a:prstGeom prst="rect">
            <a:avLst/>
          </a:prstGeom>
          <a:solidFill>
            <a:srgbClr val="1E88E5"/>
          </a:solidFill>
          <a:ln/>
          <a:effectLst>
            <a:outerShdw sx="100000" sy="100000" kx="0" ky="0" algn="bl" rotWithShape="0" blurRad="63500" dist="25400" dir="8100000">
              <a:srgbClr val="000000">
                <a:alpha val="12000"/>
              </a:srgbClr>
            </a:outerShdw>
          </a:effectLst>
        </p:spPr>
      </p:sp>
      <p:sp>
        <p:nvSpPr>
          <p:cNvPr id="6" name="Text 4"/>
          <p:cNvSpPr/>
          <p:nvPr/>
        </p:nvSpPr>
        <p:spPr>
          <a:xfrm>
            <a:off x="320040" y="1252728"/>
            <a:ext cx="17373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Audio Input</a:t>
            </a:r>
            <a:endParaRPr lang="en-US" sz="1200" dirty="0"/>
          </a:p>
        </p:txBody>
      </p:sp>
      <p:sp>
        <p:nvSpPr>
          <p:cNvPr id="7" name="Text 5"/>
          <p:cNvSpPr/>
          <p:nvPr/>
        </p:nvSpPr>
        <p:spPr>
          <a:xfrm>
            <a:off x="320040" y="1618488"/>
            <a:ext cx="173736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MP3/WAV/MP4</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Stored in S3</a:t>
            </a:r>
            <a:endParaRPr lang="en-US" sz="1000" dirty="0"/>
          </a:p>
        </p:txBody>
      </p:sp>
      <p:sp>
        <p:nvSpPr>
          <p:cNvPr id="8" name="Text 6"/>
          <p:cNvSpPr/>
          <p:nvPr/>
        </p:nvSpPr>
        <p:spPr>
          <a:xfrm>
            <a:off x="2103120" y="1572768"/>
            <a:ext cx="274320" cy="274320"/>
          </a:xfrm>
          <a:prstGeom prst="rect">
            <a:avLst/>
          </a:prstGeom>
          <a:noFill/>
          <a:ln/>
        </p:spPr>
        <p:txBody>
          <a:bodyPr wrap="square" rtlCol="0" anchor="ctr"/>
          <a:lstStyle/>
          <a:p>
            <a:pPr algn="ctr" indent="0" marL="0">
              <a:buNone/>
            </a:pPr>
            <a:r>
              <a:rPr lang="en-US" sz="1600" dirty="0">
                <a:solidFill>
                  <a:srgbClr val="90A4AE"/>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423160" y="1234440"/>
            <a:ext cx="1828800" cy="1005840"/>
          </a:xfrm>
          <a:prstGeom prst="rect">
            <a:avLst/>
          </a:prstGeom>
          <a:solidFill>
            <a:srgbClr val="00897B"/>
          </a:solidFill>
          <a:ln/>
          <a:effectLst>
            <a:outerShdw sx="100000" sy="100000" kx="0" ky="0" algn="bl" rotWithShape="0" blurRad="63500" dist="25400" dir="8100000">
              <a:srgbClr val="000000">
                <a:alpha val="12000"/>
              </a:srgbClr>
            </a:outerShdw>
          </a:effectLst>
        </p:spPr>
      </p:sp>
      <p:sp>
        <p:nvSpPr>
          <p:cNvPr id="10" name="Text 8"/>
          <p:cNvSpPr/>
          <p:nvPr/>
        </p:nvSpPr>
        <p:spPr>
          <a:xfrm>
            <a:off x="2468880" y="1252728"/>
            <a:ext cx="17373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Processing</a:t>
            </a:r>
            <a:endParaRPr lang="en-US" sz="1200" dirty="0"/>
          </a:p>
        </p:txBody>
      </p:sp>
      <p:sp>
        <p:nvSpPr>
          <p:cNvPr id="11" name="Text 9"/>
          <p:cNvSpPr/>
          <p:nvPr/>
        </p:nvSpPr>
        <p:spPr>
          <a:xfrm>
            <a:off x="2468880" y="1618488"/>
            <a:ext cx="173736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Detect language,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speakers &amp; patterns</a:t>
            </a:r>
            <a:endParaRPr lang="en-US" sz="1000" dirty="0"/>
          </a:p>
        </p:txBody>
      </p:sp>
      <p:sp>
        <p:nvSpPr>
          <p:cNvPr id="12" name="Text 10"/>
          <p:cNvSpPr/>
          <p:nvPr/>
        </p:nvSpPr>
        <p:spPr>
          <a:xfrm>
            <a:off x="4251960" y="1572768"/>
            <a:ext cx="274320" cy="274320"/>
          </a:xfrm>
          <a:prstGeom prst="rect">
            <a:avLst/>
          </a:prstGeom>
          <a:noFill/>
          <a:ln/>
        </p:spPr>
        <p:txBody>
          <a:bodyPr wrap="square" rtlCol="0" anchor="ctr"/>
          <a:lstStyle/>
          <a:p>
            <a:pPr algn="ctr" indent="0" marL="0">
              <a:buNone/>
            </a:pPr>
            <a:r>
              <a:rPr lang="en-US" sz="1600" dirty="0">
                <a:solidFill>
                  <a:srgbClr val="90A4AE"/>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4572000" y="1234440"/>
            <a:ext cx="1828800" cy="1005840"/>
          </a:xfrm>
          <a:prstGeom prst="rect">
            <a:avLst/>
          </a:prstGeom>
          <a:solidFill>
            <a:srgbClr val="FF6F00"/>
          </a:solidFill>
          <a:ln/>
          <a:effectLst>
            <a:outerShdw sx="100000" sy="100000" kx="0" ky="0" algn="bl" rotWithShape="0" blurRad="63500" dist="25400" dir="8100000">
              <a:srgbClr val="000000">
                <a:alpha val="12000"/>
              </a:srgbClr>
            </a:outerShdw>
          </a:effectLst>
        </p:spPr>
      </p:sp>
      <p:sp>
        <p:nvSpPr>
          <p:cNvPr id="14" name="Text 12"/>
          <p:cNvSpPr/>
          <p:nvPr/>
        </p:nvSpPr>
        <p:spPr>
          <a:xfrm>
            <a:off x="4617720" y="1252728"/>
            <a:ext cx="17373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ASR Engine</a:t>
            </a:r>
            <a:endParaRPr lang="en-US" sz="1200" dirty="0"/>
          </a:p>
        </p:txBody>
      </p:sp>
      <p:sp>
        <p:nvSpPr>
          <p:cNvPr id="15" name="Text 13"/>
          <p:cNvSpPr/>
          <p:nvPr/>
        </p:nvSpPr>
        <p:spPr>
          <a:xfrm>
            <a:off x="4617720" y="1618488"/>
            <a:ext cx="173736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Audio → phonemes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 words → text</a:t>
            </a:r>
            <a:endParaRPr lang="en-US" sz="1000" dirty="0"/>
          </a:p>
        </p:txBody>
      </p:sp>
      <p:sp>
        <p:nvSpPr>
          <p:cNvPr id="16" name="Text 14"/>
          <p:cNvSpPr/>
          <p:nvPr/>
        </p:nvSpPr>
        <p:spPr>
          <a:xfrm>
            <a:off x="6400800" y="1572768"/>
            <a:ext cx="274320" cy="274320"/>
          </a:xfrm>
          <a:prstGeom prst="rect">
            <a:avLst/>
          </a:prstGeom>
          <a:noFill/>
          <a:ln/>
        </p:spPr>
        <p:txBody>
          <a:bodyPr wrap="square" rtlCol="0" anchor="ctr"/>
          <a:lstStyle/>
          <a:p>
            <a:pPr algn="ctr" indent="0" marL="0">
              <a:buNone/>
            </a:pPr>
            <a:r>
              <a:rPr lang="en-US" sz="1600" dirty="0">
                <a:solidFill>
                  <a:srgbClr val="90A4AE"/>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720840" y="1234440"/>
            <a:ext cx="1828800" cy="1005840"/>
          </a:xfrm>
          <a:prstGeom prst="rect">
            <a:avLst/>
          </a:prstGeom>
          <a:solidFill>
            <a:srgbClr val="2E7D32"/>
          </a:solidFill>
          <a:ln/>
          <a:effectLst>
            <a:outerShdw sx="100000" sy="100000" kx="0" ky="0" algn="bl" rotWithShape="0" blurRad="63500" dist="25400" dir="8100000">
              <a:srgbClr val="000000">
                <a:alpha val="12000"/>
              </a:srgbClr>
            </a:outerShdw>
          </a:effectLst>
        </p:spPr>
      </p:sp>
      <p:sp>
        <p:nvSpPr>
          <p:cNvPr id="18" name="Text 16"/>
          <p:cNvSpPr/>
          <p:nvPr/>
        </p:nvSpPr>
        <p:spPr>
          <a:xfrm>
            <a:off x="6766560" y="1252728"/>
            <a:ext cx="17373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p>
        </p:txBody>
      </p:sp>
      <p:sp>
        <p:nvSpPr>
          <p:cNvPr id="19" name="Text 17"/>
          <p:cNvSpPr/>
          <p:nvPr/>
        </p:nvSpPr>
        <p:spPr>
          <a:xfrm>
            <a:off x="6766560" y="1618488"/>
            <a:ext cx="1737360" cy="54864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JSON / TXT</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SRT / VTT</a:t>
            </a:r>
            <a:endParaRPr lang="en-US" sz="1000" dirty="0"/>
          </a:p>
        </p:txBody>
      </p:sp>
      <p:sp>
        <p:nvSpPr>
          <p:cNvPr id="20" name="Text 18"/>
          <p:cNvSpPr/>
          <p:nvPr/>
        </p:nvSpPr>
        <p:spPr>
          <a:xfrm>
            <a:off x="274320" y="2423160"/>
            <a:ext cx="8595360" cy="365760"/>
          </a:xfrm>
          <a:prstGeom prst="rect">
            <a:avLst/>
          </a:prstGeom>
          <a:noFill/>
          <a:ln/>
        </p:spPr>
        <p:txBody>
          <a:bodyPr wrap="square" rtlCol="0" anchor="ctr"/>
          <a:lstStyle/>
          <a:p>
            <a:pPr indent="0" marL="0">
              <a:buNone/>
            </a:pPr>
            <a:r>
              <a:rPr lang="en-US" sz="1500" b="1" dirty="0">
                <a:solidFill>
                  <a:srgbClr val="0A2342"/>
                </a:solidFill>
                <a:latin typeface="Calibri" pitchFamily="34" charset="0"/>
                <a:ea typeface="Calibri" pitchFamily="34" charset="-122"/>
                <a:cs typeface="Calibri" pitchFamily="34" charset="-120"/>
              </a:rPr>
              <a:t>Industry Use Cases</a:t>
            </a:r>
            <a:endParaRPr lang="en-US" sz="1500" dirty="0"/>
          </a:p>
        </p:txBody>
      </p:sp>
      <p:sp>
        <p:nvSpPr>
          <p:cNvPr id="21" name="Shape 19"/>
          <p:cNvSpPr/>
          <p:nvPr/>
        </p:nvSpPr>
        <p:spPr>
          <a:xfrm>
            <a:off x="274320" y="2834640"/>
            <a:ext cx="4206240" cy="9601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274320" y="2834640"/>
            <a:ext cx="91440" cy="960120"/>
          </a:xfrm>
          <a:prstGeom prst="rect">
            <a:avLst/>
          </a:prstGeom>
          <a:solidFill>
            <a:srgbClr val="00897B"/>
          </a:solidFill>
          <a:ln/>
        </p:spPr>
      </p:sp>
      <p:sp>
        <p:nvSpPr>
          <p:cNvPr id="23" name="Text 21"/>
          <p:cNvSpPr/>
          <p:nvPr/>
        </p:nvSpPr>
        <p:spPr>
          <a:xfrm>
            <a:off x="457200" y="2880360"/>
            <a:ext cx="3931920" cy="347472"/>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  Call Centers</a:t>
            </a:r>
            <a:endParaRPr lang="en-US" sz="1300" dirty="0"/>
          </a:p>
        </p:txBody>
      </p:sp>
      <p:sp>
        <p:nvSpPr>
          <p:cNvPr id="24" name="Text 22"/>
          <p:cNvSpPr/>
          <p:nvPr/>
        </p:nvSpPr>
        <p:spPr>
          <a:xfrm>
            <a:off x="457200" y="3255264"/>
            <a:ext cx="3931920" cy="45720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Analyze customer support calls for sentiment &amp; quality monitoring</a:t>
            </a:r>
            <a:endParaRPr lang="en-US" sz="1100" dirty="0"/>
          </a:p>
        </p:txBody>
      </p:sp>
      <p:sp>
        <p:nvSpPr>
          <p:cNvPr id="25" name="Shape 23"/>
          <p:cNvSpPr/>
          <p:nvPr/>
        </p:nvSpPr>
        <p:spPr>
          <a:xfrm>
            <a:off x="4709160" y="2834640"/>
            <a:ext cx="4206240" cy="9601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6" name="Shape 24"/>
          <p:cNvSpPr/>
          <p:nvPr/>
        </p:nvSpPr>
        <p:spPr>
          <a:xfrm>
            <a:off x="4709160" y="2834640"/>
            <a:ext cx="91440" cy="960120"/>
          </a:xfrm>
          <a:prstGeom prst="rect">
            <a:avLst/>
          </a:prstGeom>
          <a:solidFill>
            <a:srgbClr val="00897B"/>
          </a:solidFill>
          <a:ln/>
        </p:spPr>
      </p:sp>
      <p:sp>
        <p:nvSpPr>
          <p:cNvPr id="27" name="Text 25"/>
          <p:cNvSpPr/>
          <p:nvPr/>
        </p:nvSpPr>
        <p:spPr>
          <a:xfrm>
            <a:off x="4892040" y="2880360"/>
            <a:ext cx="3931920" cy="347472"/>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  Healthcare</a:t>
            </a:r>
            <a:endParaRPr lang="en-US" sz="1300" dirty="0"/>
          </a:p>
        </p:txBody>
      </p:sp>
      <p:sp>
        <p:nvSpPr>
          <p:cNvPr id="28" name="Text 26"/>
          <p:cNvSpPr/>
          <p:nvPr/>
        </p:nvSpPr>
        <p:spPr>
          <a:xfrm>
            <a:off x="4892040" y="3255264"/>
            <a:ext cx="3931920" cy="45720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Clinical documentation &amp; voice-based patient records</a:t>
            </a:r>
            <a:endParaRPr lang="en-US" sz="1100" dirty="0"/>
          </a:p>
        </p:txBody>
      </p:sp>
      <p:sp>
        <p:nvSpPr>
          <p:cNvPr id="29" name="Shape 27"/>
          <p:cNvSpPr/>
          <p:nvPr/>
        </p:nvSpPr>
        <p:spPr>
          <a:xfrm>
            <a:off x="274320" y="3931920"/>
            <a:ext cx="4206240" cy="9601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0" name="Shape 28"/>
          <p:cNvSpPr/>
          <p:nvPr/>
        </p:nvSpPr>
        <p:spPr>
          <a:xfrm>
            <a:off x="274320" y="3931920"/>
            <a:ext cx="91440" cy="960120"/>
          </a:xfrm>
          <a:prstGeom prst="rect">
            <a:avLst/>
          </a:prstGeom>
          <a:solidFill>
            <a:srgbClr val="00897B"/>
          </a:solidFill>
          <a:ln/>
        </p:spPr>
      </p:sp>
      <p:sp>
        <p:nvSpPr>
          <p:cNvPr id="31" name="Text 29"/>
          <p:cNvSpPr/>
          <p:nvPr/>
        </p:nvSpPr>
        <p:spPr>
          <a:xfrm>
            <a:off x="457200" y="3977640"/>
            <a:ext cx="3931920" cy="347472"/>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  Education</a:t>
            </a:r>
            <a:endParaRPr lang="en-US" sz="1300" dirty="0"/>
          </a:p>
        </p:txBody>
      </p:sp>
      <p:sp>
        <p:nvSpPr>
          <p:cNvPr id="32" name="Text 30"/>
          <p:cNvSpPr/>
          <p:nvPr/>
        </p:nvSpPr>
        <p:spPr>
          <a:xfrm>
            <a:off x="457200" y="4352544"/>
            <a:ext cx="3931920" cy="45720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Lecture transcription &amp; accessibility for hearing-impaired students</a:t>
            </a:r>
            <a:endParaRPr lang="en-US" sz="1100" dirty="0"/>
          </a:p>
        </p:txBody>
      </p:sp>
      <p:sp>
        <p:nvSpPr>
          <p:cNvPr id="33" name="Shape 31"/>
          <p:cNvSpPr/>
          <p:nvPr/>
        </p:nvSpPr>
        <p:spPr>
          <a:xfrm>
            <a:off x="4709160" y="3931920"/>
            <a:ext cx="4206240" cy="9601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4709160" y="3931920"/>
            <a:ext cx="91440" cy="960120"/>
          </a:xfrm>
          <a:prstGeom prst="rect">
            <a:avLst/>
          </a:prstGeom>
          <a:solidFill>
            <a:srgbClr val="00897B"/>
          </a:solidFill>
          <a:ln/>
        </p:spPr>
      </p:sp>
      <p:sp>
        <p:nvSpPr>
          <p:cNvPr id="35" name="Text 33"/>
          <p:cNvSpPr/>
          <p:nvPr/>
        </p:nvSpPr>
        <p:spPr>
          <a:xfrm>
            <a:off x="4892040" y="3977640"/>
            <a:ext cx="3931920" cy="347472"/>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  Media &amp; Entertainment</a:t>
            </a:r>
            <a:endParaRPr lang="en-US" sz="1300" dirty="0"/>
          </a:p>
        </p:txBody>
      </p:sp>
      <p:sp>
        <p:nvSpPr>
          <p:cNvPr id="36" name="Text 34"/>
          <p:cNvSpPr/>
          <p:nvPr/>
        </p:nvSpPr>
        <p:spPr>
          <a:xfrm>
            <a:off x="4892040" y="4352544"/>
            <a:ext cx="3931920" cy="45720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Subtitle generation &amp; video captioning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6A1B9A"/>
          </a:solidFill>
          <a:ln/>
        </p:spPr>
      </p:sp>
      <p:sp>
        <p:nvSpPr>
          <p:cNvPr id="3" name="Text 1"/>
          <p:cNvSpPr/>
          <p:nvPr/>
        </p:nvSpPr>
        <p:spPr>
          <a:xfrm>
            <a:off x="274320" y="73152"/>
            <a:ext cx="859536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Amazon Kendra — Intelligent Enterprise Search</a:t>
            </a:r>
            <a:endParaRPr lang="en-US" sz="2200" dirty="0"/>
          </a:p>
        </p:txBody>
      </p:sp>
      <p:sp>
        <p:nvSpPr>
          <p:cNvPr id="4" name="Text 2"/>
          <p:cNvSpPr/>
          <p:nvPr/>
        </p:nvSpPr>
        <p:spPr>
          <a:xfrm>
            <a:off x="365760" y="822960"/>
            <a:ext cx="4754880" cy="411480"/>
          </a:xfrm>
          <a:prstGeom prst="rect">
            <a:avLst/>
          </a:prstGeom>
          <a:noFill/>
          <a:ln/>
        </p:spPr>
        <p:txBody>
          <a:bodyPr wrap="square" rtlCol="0" anchor="ctr"/>
          <a:lstStyle/>
          <a:p>
            <a:pPr indent="0" marL="0">
              <a:buNone/>
            </a:pPr>
            <a:r>
              <a:rPr lang="en-US" sz="1800" b="1" dirty="0">
                <a:solidFill>
                  <a:srgbClr val="0A2342"/>
                </a:solidFill>
                <a:latin typeface="Calibri" pitchFamily="34" charset="0"/>
                <a:ea typeface="Calibri" pitchFamily="34" charset="-122"/>
                <a:cs typeface="Calibri" pitchFamily="34" charset="-120"/>
              </a:rPr>
              <a:t>What is Amazon Kendra?</a:t>
            </a:r>
            <a:endParaRPr lang="en-US" sz="1800" dirty="0"/>
          </a:p>
        </p:txBody>
      </p:sp>
      <p:sp>
        <p:nvSpPr>
          <p:cNvPr id="5" name="Text 3"/>
          <p:cNvSpPr/>
          <p:nvPr/>
        </p:nvSpPr>
        <p:spPr>
          <a:xfrm>
            <a:off x="365760" y="1280160"/>
            <a:ext cx="4754880" cy="3474720"/>
          </a:xfrm>
          <a:prstGeom prst="rect">
            <a:avLst/>
          </a:prstGeom>
          <a:noFill/>
          <a:ln/>
        </p:spPr>
        <p:txBody>
          <a:bodyPr wrap="square" rtlCol="0" anchor="t"/>
          <a:lstStyle/>
          <a:p>
            <a:pPr indent="0" marL="0">
              <a:buNone/>
            </a:pPr>
            <a:r>
              <a:rPr lang="en-US" sz="1300" dirty="0">
                <a:solidFill>
                  <a:srgbClr val="37474F"/>
                </a:solidFill>
                <a:latin typeface="Calibri" pitchFamily="34" charset="0"/>
                <a:ea typeface="Calibri" pitchFamily="34" charset="-122"/>
                <a:cs typeface="Calibri" pitchFamily="34" charset="-120"/>
              </a:rPr>
              <a:t>Amazon Kendra is an AI-powered enterprise search service that uses Natural Language Processing (NLP) and Machine Learning to understand meaning, context, and intent behind user queries.
</a:t>
            </a:r>
            <a:pPr indent="0" marL="0">
              <a:buNone/>
            </a:pPr>
            <a:r>
              <a:rPr lang="en-US" sz="1300" dirty="0">
                <a:solidFill>
                  <a:srgbClr val="37474F"/>
                </a:solidFill>
                <a:latin typeface="Calibri" pitchFamily="34" charset="0"/>
                <a:ea typeface="Calibri" pitchFamily="34" charset="-122"/>
                <a:cs typeface="Calibri" pitchFamily="34" charset="-120"/>
              </a:rPr>
              <a:t>Unlike traditional keyword search, Kendra returns </a:t>
            </a:r>
            <a:pPr indent="0" marL="0">
              <a:buNone/>
            </a:pPr>
            <a:r>
              <a:rPr lang="en-US" sz="1300" b="1" dirty="0">
                <a:solidFill>
                  <a:srgbClr val="37474F"/>
                </a:solidFill>
                <a:latin typeface="Calibri" pitchFamily="34" charset="0"/>
                <a:ea typeface="Calibri" pitchFamily="34" charset="-122"/>
                <a:cs typeface="Calibri" pitchFamily="34" charset="-120"/>
              </a:rPr>
              <a:t>direct, precise answers</a:t>
            </a:r>
            <a:pPr indent="0" marL="0">
              <a:buNone/>
            </a:pPr>
            <a:r>
              <a:rPr lang="en-US" sz="1300" dirty="0">
                <a:solidFill>
                  <a:srgbClr val="37474F"/>
                </a:solidFill>
                <a:latin typeface="Calibri" pitchFamily="34" charset="0"/>
                <a:ea typeface="Calibri" pitchFamily="34" charset="-122"/>
                <a:cs typeface="Calibri" pitchFamily="34" charset="-120"/>
              </a:rPr>
              <a:t> — not just a list of links.
</a:t>
            </a:r>
            <a:pPr indent="0" marL="0">
              <a:buNone/>
            </a:pPr>
            <a:r>
              <a:rPr lang="en-US" sz="1300" b="1" dirty="0">
                <a:solidFill>
                  <a:srgbClr val="37474F"/>
                </a:solidFill>
                <a:latin typeface="Calibri" pitchFamily="34" charset="0"/>
                <a:ea typeface="Calibri" pitchFamily="34" charset="-122"/>
                <a:cs typeface="Calibri" pitchFamily="34" charset="-120"/>
              </a:rPr>
              <a:t>Example:
</a:t>
            </a:r>
            <a:pPr indent="0" marL="0">
              <a:buNone/>
            </a:pPr>
            <a:r>
              <a:rPr lang="en-US" sz="1300" i="1" dirty="0">
                <a:solidFill>
                  <a:srgbClr val="37474F"/>
                </a:solidFill>
                <a:latin typeface="Calibri" pitchFamily="34" charset="0"/>
                <a:ea typeface="Calibri" pitchFamily="34" charset="-122"/>
                <a:cs typeface="Calibri" pitchFamily="34" charset="-120"/>
              </a:rPr>
              <a:t>"How many sick leaves can I take?" → Kendra reads HR policy and returns: "Employees get 20 paid leaves per year"</a:t>
            </a:r>
            <a:endParaRPr lang="en-US" sz="1300" dirty="0"/>
          </a:p>
        </p:txBody>
      </p:sp>
      <p:sp>
        <p:nvSpPr>
          <p:cNvPr id="6" name="Text 4"/>
          <p:cNvSpPr/>
          <p:nvPr/>
        </p:nvSpPr>
        <p:spPr>
          <a:xfrm>
            <a:off x="5257800" y="822960"/>
            <a:ext cx="3611880" cy="365760"/>
          </a:xfrm>
          <a:prstGeom prst="rect">
            <a:avLst/>
          </a:prstGeom>
          <a:noFill/>
          <a:ln/>
        </p:spPr>
        <p:txBody>
          <a:bodyPr wrap="square" rtlCol="0" anchor="ctr"/>
          <a:lstStyle/>
          <a:p>
            <a:pPr indent="0" marL="0">
              <a:buNone/>
            </a:pPr>
            <a:r>
              <a:rPr lang="en-US" sz="1400" b="1" dirty="0">
                <a:solidFill>
                  <a:srgbClr val="0A2342"/>
                </a:solidFill>
                <a:latin typeface="Calibri" pitchFamily="34" charset="0"/>
                <a:ea typeface="Calibri" pitchFamily="34" charset="-122"/>
                <a:cs typeface="Calibri" pitchFamily="34" charset="-120"/>
              </a:rPr>
              <a:t>Kendra vs Traditional Search</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257800" y="1280160"/>
          <a:ext cx="3611880" cy="2560320"/>
        </p:xfrm>
        <a:graphic>
          <a:graphicData uri="http://schemas.openxmlformats.org/drawingml/2006/table">
            <a:tbl>
              <a:tblPr/>
              <a:tblGrid>
                <a:gridCol w="1417320"/>
                <a:gridCol w="1097280"/>
                <a:gridCol w="1097280"/>
              </a:tblGrid>
              <a:tr h="4267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6A1B9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Traditional</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6A1B9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Kendra</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6A1B9A"/>
                    </a:solidFill>
                  </a:tcPr>
                </a:tc>
              </a:tr>
              <a:tr h="42672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Search Type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Keyword-based</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AI / Semantic</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2672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2672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Context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Context-aware</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2672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Learning</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ML Dynamic</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2672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List of docs</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Direct answer</a:t>
                      </a:r>
                      <a:endParaRPr lang="en-US" sz="12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8" name="Text 5"/>
          <p:cNvSpPr/>
          <p:nvPr/>
        </p:nvSpPr>
        <p:spPr>
          <a:xfrm>
            <a:off x="5257800" y="3931920"/>
            <a:ext cx="3566160" cy="320040"/>
          </a:xfrm>
          <a:prstGeom prst="rect">
            <a:avLst/>
          </a:prstGeom>
          <a:noFill/>
          <a:ln/>
        </p:spPr>
        <p:txBody>
          <a:bodyPr wrap="square" rtlCol="0" anchor="ctr"/>
          <a:lstStyle/>
          <a:p>
            <a:pPr indent="0" marL="0">
              <a:buNone/>
            </a:pPr>
            <a:r>
              <a:rPr lang="en-US" sz="1300" b="1" dirty="0">
                <a:solidFill>
                  <a:srgbClr val="0A2342"/>
                </a:solidFill>
                <a:latin typeface="Calibri" pitchFamily="34" charset="0"/>
                <a:ea typeface="Calibri" pitchFamily="34" charset="-122"/>
                <a:cs typeface="Calibri" pitchFamily="34" charset="-120"/>
              </a:rPr>
              <a:t>Data Source Connectors</a:t>
            </a:r>
            <a:endParaRPr lang="en-US" sz="1300" dirty="0"/>
          </a:p>
        </p:txBody>
      </p:sp>
      <p:sp>
        <p:nvSpPr>
          <p:cNvPr id="9" name="Text 6"/>
          <p:cNvSpPr/>
          <p:nvPr/>
        </p:nvSpPr>
        <p:spPr>
          <a:xfrm>
            <a:off x="5257800" y="4251960"/>
            <a:ext cx="3566160" cy="36576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Amazon S3  |  SharePoint  |  Salesforce  |  Google Drive  |  Databases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6A1B9A"/>
          </a:solidFill>
          <a:ln/>
        </p:spPr>
      </p:sp>
      <p:sp>
        <p:nvSpPr>
          <p:cNvPr id="3" name="Text 1"/>
          <p:cNvSpPr/>
          <p:nvPr/>
        </p:nvSpPr>
        <p:spPr>
          <a:xfrm>
            <a:off x="274320" y="73152"/>
            <a:ext cx="859536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Amazon Kendra — Architecture &amp; Use Cases</a:t>
            </a:r>
            <a:endParaRPr lang="en-US" sz="2200" dirty="0"/>
          </a:p>
        </p:txBody>
      </p:sp>
      <p:sp>
        <p:nvSpPr>
          <p:cNvPr id="4" name="Text 2"/>
          <p:cNvSpPr/>
          <p:nvPr/>
        </p:nvSpPr>
        <p:spPr>
          <a:xfrm>
            <a:off x="274320" y="777240"/>
            <a:ext cx="8595360" cy="347472"/>
          </a:xfrm>
          <a:prstGeom prst="rect">
            <a:avLst/>
          </a:prstGeom>
          <a:noFill/>
          <a:ln/>
        </p:spPr>
        <p:txBody>
          <a:bodyPr wrap="square" rtlCol="0" anchor="ctr"/>
          <a:lstStyle/>
          <a:p>
            <a:pPr indent="0" marL="0">
              <a:buNone/>
            </a:pPr>
            <a:r>
              <a:rPr lang="en-US" sz="1500" b="1" dirty="0">
                <a:solidFill>
                  <a:srgbClr val="0A2342"/>
                </a:solidFill>
                <a:latin typeface="Calibri" pitchFamily="34" charset="0"/>
                <a:ea typeface="Calibri" pitchFamily="34" charset="-122"/>
                <a:cs typeface="Calibri" pitchFamily="34" charset="-120"/>
              </a:rPr>
              <a:t>How Kendra Works (Search Pipeline)</a:t>
            </a:r>
            <a:endParaRPr lang="en-US" sz="1500" dirty="0"/>
          </a:p>
        </p:txBody>
      </p:sp>
      <p:sp>
        <p:nvSpPr>
          <p:cNvPr id="5" name="Shape 3"/>
          <p:cNvSpPr/>
          <p:nvPr/>
        </p:nvSpPr>
        <p:spPr>
          <a:xfrm>
            <a:off x="182880" y="1207008"/>
            <a:ext cx="1554480" cy="914400"/>
          </a:xfrm>
          <a:prstGeom prst="rect">
            <a:avLst/>
          </a:prstGeom>
          <a:solidFill>
            <a:srgbClr val="1E88E5"/>
          </a:solidFill>
          <a:ln/>
          <a:effectLst>
            <a:outerShdw sx="100000" sy="100000" kx="0" ky="0" algn="bl" rotWithShape="0" blurRad="63500" dist="25400" dir="8100000">
              <a:srgbClr val="000000">
                <a:alpha val="12000"/>
              </a:srgbClr>
            </a:outerShdw>
          </a:effectLst>
        </p:spPr>
      </p:sp>
      <p:sp>
        <p:nvSpPr>
          <p:cNvPr id="6" name="Text 4"/>
          <p:cNvSpPr/>
          <p:nvPr/>
        </p:nvSpPr>
        <p:spPr>
          <a:xfrm>
            <a:off x="182880" y="1316736"/>
            <a:ext cx="155448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Ingestion</a:t>
            </a:r>
            <a:endParaRPr lang="en-US" sz="1100" dirty="0"/>
          </a:p>
        </p:txBody>
      </p:sp>
      <p:sp>
        <p:nvSpPr>
          <p:cNvPr id="7" name="Text 5"/>
          <p:cNvSpPr/>
          <p:nvPr/>
        </p:nvSpPr>
        <p:spPr>
          <a:xfrm>
            <a:off x="1737360" y="1527048"/>
            <a:ext cx="182880" cy="256032"/>
          </a:xfrm>
          <a:prstGeom prst="rect">
            <a:avLst/>
          </a:prstGeom>
          <a:noFill/>
          <a:ln/>
        </p:spPr>
        <p:txBody>
          <a:bodyPr wrap="square" rtlCol="0" anchor="ctr"/>
          <a:lstStyle/>
          <a:p>
            <a:pPr indent="0" marL="0">
              <a:buNone/>
            </a:pPr>
            <a:r>
              <a:rPr lang="en-US" sz="1300" dirty="0">
                <a:solidFill>
                  <a:srgbClr val="90A4AE"/>
                </a:solidFill>
                <a:latin typeface="Calibri" pitchFamily="34" charset="0"/>
                <a:ea typeface="Calibri" pitchFamily="34" charset="-122"/>
                <a:cs typeface="Calibri" pitchFamily="34" charset="-120"/>
              </a:rPr>
              <a:t>▶</a:t>
            </a:r>
            <a:endParaRPr lang="en-US" sz="1300" dirty="0"/>
          </a:p>
        </p:txBody>
      </p:sp>
      <p:sp>
        <p:nvSpPr>
          <p:cNvPr id="8" name="Shape 6"/>
          <p:cNvSpPr/>
          <p:nvPr/>
        </p:nvSpPr>
        <p:spPr>
          <a:xfrm>
            <a:off x="1938528" y="1207008"/>
            <a:ext cx="1554480" cy="914400"/>
          </a:xfrm>
          <a:prstGeom prst="rect">
            <a:avLst/>
          </a:prstGeom>
          <a:solidFill>
            <a:srgbClr val="00897B"/>
          </a:solidFill>
          <a:ln/>
          <a:effectLst>
            <a:outerShdw sx="100000" sy="100000" kx="0" ky="0" algn="bl" rotWithShape="0" blurRad="63500" dist="25400" dir="8100000">
              <a:srgbClr val="000000">
                <a:alpha val="12000"/>
              </a:srgbClr>
            </a:outerShdw>
          </a:effectLst>
        </p:spPr>
      </p:sp>
      <p:sp>
        <p:nvSpPr>
          <p:cNvPr id="9" name="Text 7"/>
          <p:cNvSpPr/>
          <p:nvPr/>
        </p:nvSpPr>
        <p:spPr>
          <a:xfrm>
            <a:off x="1938528" y="1316736"/>
            <a:ext cx="155448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Document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Parsing</a:t>
            </a:r>
            <a:endParaRPr lang="en-US" sz="1100" dirty="0"/>
          </a:p>
        </p:txBody>
      </p:sp>
      <p:sp>
        <p:nvSpPr>
          <p:cNvPr id="10" name="Text 8"/>
          <p:cNvSpPr/>
          <p:nvPr/>
        </p:nvSpPr>
        <p:spPr>
          <a:xfrm>
            <a:off x="3493008" y="1527048"/>
            <a:ext cx="182880" cy="256032"/>
          </a:xfrm>
          <a:prstGeom prst="rect">
            <a:avLst/>
          </a:prstGeom>
          <a:noFill/>
          <a:ln/>
        </p:spPr>
        <p:txBody>
          <a:bodyPr wrap="square" rtlCol="0" anchor="ctr"/>
          <a:lstStyle/>
          <a:p>
            <a:pPr indent="0" marL="0">
              <a:buNone/>
            </a:pPr>
            <a:r>
              <a:rPr lang="en-US" sz="1300" dirty="0">
                <a:solidFill>
                  <a:srgbClr val="90A4AE"/>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3694176" y="1207008"/>
            <a:ext cx="1554480" cy="914400"/>
          </a:xfrm>
          <a:prstGeom prst="rect">
            <a:avLst/>
          </a:prstGeom>
          <a:solidFill>
            <a:srgbClr val="6A1B9A"/>
          </a:solidFill>
          <a:ln/>
          <a:effectLst>
            <a:outerShdw sx="100000" sy="100000" kx="0" ky="0" algn="bl" rotWithShape="0" blurRad="63500" dist="25400" dir="8100000">
              <a:srgbClr val="000000">
                <a:alpha val="12000"/>
              </a:srgbClr>
            </a:outerShdw>
          </a:effectLst>
        </p:spPr>
      </p:sp>
      <p:sp>
        <p:nvSpPr>
          <p:cNvPr id="12" name="Text 10"/>
          <p:cNvSpPr/>
          <p:nvPr/>
        </p:nvSpPr>
        <p:spPr>
          <a:xfrm>
            <a:off x="3694176" y="1316736"/>
            <a:ext cx="155448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NLP &amp;</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Indexing</a:t>
            </a:r>
            <a:endParaRPr lang="en-US" sz="1100" dirty="0"/>
          </a:p>
        </p:txBody>
      </p:sp>
      <p:sp>
        <p:nvSpPr>
          <p:cNvPr id="13" name="Text 11"/>
          <p:cNvSpPr/>
          <p:nvPr/>
        </p:nvSpPr>
        <p:spPr>
          <a:xfrm>
            <a:off x="5248656" y="1527048"/>
            <a:ext cx="182880" cy="256032"/>
          </a:xfrm>
          <a:prstGeom prst="rect">
            <a:avLst/>
          </a:prstGeom>
          <a:noFill/>
          <a:ln/>
        </p:spPr>
        <p:txBody>
          <a:bodyPr wrap="square" rtlCol="0" anchor="ctr"/>
          <a:lstStyle/>
          <a:p>
            <a:pPr indent="0" marL="0">
              <a:buNone/>
            </a:pPr>
            <a:r>
              <a:rPr lang="en-US" sz="1300" dirty="0">
                <a:solidFill>
                  <a:srgbClr val="90A4AE"/>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5449824" y="1207008"/>
            <a:ext cx="1554480" cy="914400"/>
          </a:xfrm>
          <a:prstGeom prst="rect">
            <a:avLst/>
          </a:prstGeom>
          <a:solidFill>
            <a:srgbClr val="FF6F00"/>
          </a:solidFill>
          <a:ln/>
          <a:effectLst>
            <a:outerShdw sx="100000" sy="100000" kx="0" ky="0" algn="bl" rotWithShape="0" blurRad="63500" dist="25400" dir="8100000">
              <a:srgbClr val="000000">
                <a:alpha val="12000"/>
              </a:srgbClr>
            </a:outerShdw>
          </a:effectLst>
        </p:spPr>
      </p:sp>
      <p:sp>
        <p:nvSpPr>
          <p:cNvPr id="15" name="Text 13"/>
          <p:cNvSpPr/>
          <p:nvPr/>
        </p:nvSpPr>
        <p:spPr>
          <a:xfrm>
            <a:off x="5449824" y="1316736"/>
            <a:ext cx="155448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Query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Understanding</a:t>
            </a:r>
            <a:endParaRPr lang="en-US" sz="1100" dirty="0"/>
          </a:p>
        </p:txBody>
      </p:sp>
      <p:sp>
        <p:nvSpPr>
          <p:cNvPr id="16" name="Text 14"/>
          <p:cNvSpPr/>
          <p:nvPr/>
        </p:nvSpPr>
        <p:spPr>
          <a:xfrm>
            <a:off x="7004304" y="1527048"/>
            <a:ext cx="182880" cy="256032"/>
          </a:xfrm>
          <a:prstGeom prst="rect">
            <a:avLst/>
          </a:prstGeom>
          <a:noFill/>
          <a:ln/>
        </p:spPr>
        <p:txBody>
          <a:bodyPr wrap="square" rtlCol="0" anchor="ctr"/>
          <a:lstStyle/>
          <a:p>
            <a:pPr indent="0" marL="0">
              <a:buNone/>
            </a:pPr>
            <a:r>
              <a:rPr lang="en-US" sz="1300" dirty="0">
                <a:solidFill>
                  <a:srgbClr val="90A4AE"/>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7205472" y="1207008"/>
            <a:ext cx="1554480" cy="914400"/>
          </a:xfrm>
          <a:prstGeom prst="rect">
            <a:avLst/>
          </a:prstGeom>
          <a:solidFill>
            <a:srgbClr val="2E7D32"/>
          </a:solidFill>
          <a:ln/>
          <a:effectLst>
            <a:outerShdw sx="100000" sy="100000" kx="0" ky="0" algn="bl" rotWithShape="0" blurRad="63500" dist="25400" dir="8100000">
              <a:srgbClr val="000000">
                <a:alpha val="12000"/>
              </a:srgbClr>
            </a:outerShdw>
          </a:effectLst>
        </p:spPr>
      </p:sp>
      <p:sp>
        <p:nvSpPr>
          <p:cNvPr id="18" name="Text 16"/>
          <p:cNvSpPr/>
          <p:nvPr/>
        </p:nvSpPr>
        <p:spPr>
          <a:xfrm>
            <a:off x="7205472" y="1316736"/>
            <a:ext cx="1554480"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Ranking</a:t>
            </a:r>
            <a:endParaRPr lang="en-US" sz="1100" dirty="0"/>
          </a:p>
        </p:txBody>
      </p:sp>
      <p:sp>
        <p:nvSpPr>
          <p:cNvPr id="19" name="Text 17"/>
          <p:cNvSpPr/>
          <p:nvPr/>
        </p:nvSpPr>
        <p:spPr>
          <a:xfrm>
            <a:off x="274320" y="2212848"/>
            <a:ext cx="8595360" cy="347472"/>
          </a:xfrm>
          <a:prstGeom prst="rect">
            <a:avLst/>
          </a:prstGeom>
          <a:noFill/>
          <a:ln/>
        </p:spPr>
        <p:txBody>
          <a:bodyPr wrap="square" rtlCol="0" anchor="ctr"/>
          <a:lstStyle/>
          <a:p>
            <a:pPr indent="0" marL="0">
              <a:buNone/>
            </a:pPr>
            <a:r>
              <a:rPr lang="en-US" sz="1100" i="1" dirty="0">
                <a:solidFill>
                  <a:srgbClr val="90A4AE"/>
                </a:solidFill>
                <a:latin typeface="Calibri" pitchFamily="34" charset="0"/>
                <a:ea typeface="Calibri" pitchFamily="34" charset="-122"/>
                <a:cs typeface="Calibri" pitchFamily="34" charset="-120"/>
              </a:rPr>
              <a:t>Result: Exact answer shown to user with highlighted text — no need to open full document</a:t>
            </a:r>
            <a:endParaRPr lang="en-US" sz="1100" dirty="0"/>
          </a:p>
        </p:txBody>
      </p:sp>
      <p:sp>
        <p:nvSpPr>
          <p:cNvPr id="20" name="Text 18"/>
          <p:cNvSpPr/>
          <p:nvPr/>
        </p:nvSpPr>
        <p:spPr>
          <a:xfrm>
            <a:off x="274320" y="2651760"/>
            <a:ext cx="4206240" cy="365760"/>
          </a:xfrm>
          <a:prstGeom prst="rect">
            <a:avLst/>
          </a:prstGeom>
          <a:noFill/>
          <a:ln/>
        </p:spPr>
        <p:txBody>
          <a:bodyPr wrap="square" rtlCol="0" anchor="ctr"/>
          <a:lstStyle/>
          <a:p>
            <a:pPr indent="0" marL="0">
              <a:buNone/>
            </a:pPr>
            <a:r>
              <a:rPr lang="en-US" sz="1500" b="1" dirty="0">
                <a:solidFill>
                  <a:srgbClr val="0A2342"/>
                </a:solidFill>
                <a:latin typeface="Calibri" pitchFamily="34" charset="0"/>
                <a:ea typeface="Calibri" pitchFamily="34" charset="-122"/>
                <a:cs typeface="Calibri" pitchFamily="34" charset="-120"/>
              </a:rPr>
              <a:t>Key Features</a:t>
            </a:r>
            <a:endParaRPr lang="en-US" sz="1500" dirty="0"/>
          </a:p>
        </p:txBody>
      </p:sp>
      <p:sp>
        <p:nvSpPr>
          <p:cNvPr id="21" name="Text 19"/>
          <p:cNvSpPr/>
          <p:nvPr/>
        </p:nvSpPr>
        <p:spPr>
          <a:xfrm>
            <a:off x="274320" y="3090672"/>
            <a:ext cx="4206240" cy="1920240"/>
          </a:xfrm>
          <a:prstGeom prst="rect">
            <a:avLst/>
          </a:prstGeom>
          <a:noFill/>
          <a:ln/>
        </p:spPr>
        <p:txBody>
          <a:bodyPr wrap="square" rtlCol="0" anchor="t"/>
          <a:lstStyle/>
          <a:p>
            <a:pPr marL="342900" indent="-342900">
              <a:buSzPct val="100000"/>
              <a:buChar char="•"/>
            </a:pPr>
            <a:r>
              <a:rPr lang="en-US" sz="1200" dirty="0">
                <a:solidFill>
                  <a:srgbClr val="37474F"/>
                </a:solidFill>
                <a:latin typeface="Calibri" pitchFamily="34" charset="0"/>
                <a:ea typeface="Calibri" pitchFamily="34" charset="-122"/>
                <a:cs typeface="Calibri" pitchFamily="34" charset="-120"/>
              </a:rPr>
              <a:t>Natural Language Search — Ask questions in plain English</a:t>
            </a:r>
            <a:endParaRPr lang="en-US" sz="1200" dirty="0"/>
          </a:p>
          <a:p>
            <a:pPr marL="342900" indent="-342900">
              <a:buSzPct val="100000"/>
              <a:buChar char="•"/>
            </a:pPr>
            <a:r>
              <a:rPr lang="en-US" sz="1200" dirty="0">
                <a:solidFill>
                  <a:srgbClr val="37474F"/>
                </a:solidFill>
                <a:latin typeface="Calibri" pitchFamily="34" charset="0"/>
                <a:ea typeface="Calibri" pitchFamily="34" charset="-122"/>
                <a:cs typeface="Calibri" pitchFamily="34" charset="-120"/>
              </a:rPr>
              <a:t>FAQ Matching — Directly matches questions to pre-loaded answers</a:t>
            </a:r>
            <a:endParaRPr lang="en-US" sz="1200" dirty="0"/>
          </a:p>
          <a:p>
            <a:pPr marL="342900" indent="-342900">
              <a:buSzPct val="100000"/>
              <a:buChar char="•"/>
            </a:pPr>
            <a:r>
              <a:rPr lang="en-US" sz="1200" dirty="0">
                <a:solidFill>
                  <a:srgbClr val="37474F"/>
                </a:solidFill>
                <a:latin typeface="Calibri" pitchFamily="34" charset="0"/>
                <a:ea typeface="Calibri" pitchFamily="34" charset="-122"/>
                <a:cs typeface="Calibri" pitchFamily="34" charset="-120"/>
              </a:rPr>
              <a:t>ML-Based Ranking — Most relevant results ranked at top</a:t>
            </a:r>
            <a:endParaRPr lang="en-US" sz="1200" dirty="0"/>
          </a:p>
          <a:p>
            <a:pPr marL="342900" indent="-342900">
              <a:buSzPct val="100000"/>
              <a:buChar char="•"/>
            </a:pPr>
            <a:r>
              <a:rPr lang="en-US" sz="1200" dirty="0">
                <a:solidFill>
                  <a:srgbClr val="37474F"/>
                </a:solidFill>
                <a:latin typeface="Calibri" pitchFamily="34" charset="0"/>
                <a:ea typeface="Calibri" pitchFamily="34" charset="-122"/>
                <a:cs typeface="Calibri" pitchFamily="34" charset="-120"/>
              </a:rPr>
              <a:t>Security &amp; Access Control — Document-level IAM permissions</a:t>
            </a:r>
            <a:endParaRPr lang="en-US" sz="1200" dirty="0"/>
          </a:p>
          <a:p>
            <a:pPr marL="342900" indent="-342900">
              <a:buSzPct val="100000"/>
              <a:buChar char="•"/>
            </a:pPr>
            <a:r>
              <a:rPr lang="en-US" sz="1200" dirty="0">
                <a:solidFill>
                  <a:srgbClr val="37474F"/>
                </a:solidFill>
                <a:latin typeface="Calibri" pitchFamily="34" charset="0"/>
                <a:ea typeface="Calibri" pitchFamily="34" charset="-122"/>
                <a:cs typeface="Calibri" pitchFamily="34" charset="-120"/>
              </a:rPr>
              <a:t>Continuous Learning — Improves based on user behavior</a:t>
            </a:r>
            <a:endParaRPr lang="en-US" sz="1200" dirty="0"/>
          </a:p>
        </p:txBody>
      </p:sp>
      <p:sp>
        <p:nvSpPr>
          <p:cNvPr id="22" name="Text 20"/>
          <p:cNvSpPr/>
          <p:nvPr/>
        </p:nvSpPr>
        <p:spPr>
          <a:xfrm>
            <a:off x="4800600" y="2651760"/>
            <a:ext cx="4114800" cy="365760"/>
          </a:xfrm>
          <a:prstGeom prst="rect">
            <a:avLst/>
          </a:prstGeom>
          <a:noFill/>
          <a:ln/>
        </p:spPr>
        <p:txBody>
          <a:bodyPr wrap="square" rtlCol="0" anchor="ctr"/>
          <a:lstStyle/>
          <a:p>
            <a:pPr indent="0" marL="0">
              <a:buNone/>
            </a:pPr>
            <a:r>
              <a:rPr lang="en-US" sz="1500" b="1" dirty="0">
                <a:solidFill>
                  <a:srgbClr val="0A2342"/>
                </a:solidFill>
                <a:latin typeface="Calibri" pitchFamily="34" charset="0"/>
                <a:ea typeface="Calibri" pitchFamily="34" charset="-122"/>
                <a:cs typeface="Calibri" pitchFamily="34" charset="-120"/>
              </a:rPr>
              <a:t>Use Cases</a:t>
            </a:r>
            <a:endParaRPr lang="en-US" sz="1500" dirty="0"/>
          </a:p>
        </p:txBody>
      </p:sp>
      <p:sp>
        <p:nvSpPr>
          <p:cNvPr id="23" name="Shape 21"/>
          <p:cNvSpPr/>
          <p:nvPr/>
        </p:nvSpPr>
        <p:spPr>
          <a:xfrm>
            <a:off x="4800600" y="3090672"/>
            <a:ext cx="4069080" cy="438912"/>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4" name="Shape 22"/>
          <p:cNvSpPr/>
          <p:nvPr/>
        </p:nvSpPr>
        <p:spPr>
          <a:xfrm>
            <a:off x="4800600" y="3090672"/>
            <a:ext cx="82296" cy="438912"/>
          </a:xfrm>
          <a:prstGeom prst="rect">
            <a:avLst/>
          </a:prstGeom>
          <a:solidFill>
            <a:srgbClr val="6A1B9A"/>
          </a:solidFill>
          <a:ln/>
        </p:spPr>
      </p:sp>
      <p:sp>
        <p:nvSpPr>
          <p:cNvPr id="25" name="Text 23"/>
          <p:cNvSpPr/>
          <p:nvPr/>
        </p:nvSpPr>
        <p:spPr>
          <a:xfrm>
            <a:off x="4919472" y="3145536"/>
            <a:ext cx="3886200" cy="32004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  Enterprise Search — Internal company knowledge base</a:t>
            </a:r>
            <a:endParaRPr lang="en-US" sz="1100" dirty="0"/>
          </a:p>
        </p:txBody>
      </p:sp>
      <p:sp>
        <p:nvSpPr>
          <p:cNvPr id="26" name="Shape 24"/>
          <p:cNvSpPr/>
          <p:nvPr/>
        </p:nvSpPr>
        <p:spPr>
          <a:xfrm>
            <a:off x="4800600" y="3593592"/>
            <a:ext cx="4069080" cy="438912"/>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7" name="Shape 25"/>
          <p:cNvSpPr/>
          <p:nvPr/>
        </p:nvSpPr>
        <p:spPr>
          <a:xfrm>
            <a:off x="4800600" y="3593592"/>
            <a:ext cx="82296" cy="438912"/>
          </a:xfrm>
          <a:prstGeom prst="rect">
            <a:avLst/>
          </a:prstGeom>
          <a:solidFill>
            <a:srgbClr val="6A1B9A"/>
          </a:solidFill>
          <a:ln/>
        </p:spPr>
      </p:sp>
      <p:sp>
        <p:nvSpPr>
          <p:cNvPr id="28" name="Text 26"/>
          <p:cNvSpPr/>
          <p:nvPr/>
        </p:nvSpPr>
        <p:spPr>
          <a:xfrm>
            <a:off x="4919472" y="3648456"/>
            <a:ext cx="3886200" cy="32004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  Customer Support — Self-service portals &amp; chatbots</a:t>
            </a:r>
            <a:endParaRPr lang="en-US" sz="1100" dirty="0"/>
          </a:p>
        </p:txBody>
      </p:sp>
      <p:sp>
        <p:nvSpPr>
          <p:cNvPr id="29" name="Shape 27"/>
          <p:cNvSpPr/>
          <p:nvPr/>
        </p:nvSpPr>
        <p:spPr>
          <a:xfrm>
            <a:off x="4800600" y="4096512"/>
            <a:ext cx="4069080" cy="438912"/>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0" name="Shape 28"/>
          <p:cNvSpPr/>
          <p:nvPr/>
        </p:nvSpPr>
        <p:spPr>
          <a:xfrm>
            <a:off x="4800600" y="4096512"/>
            <a:ext cx="82296" cy="438912"/>
          </a:xfrm>
          <a:prstGeom prst="rect">
            <a:avLst/>
          </a:prstGeom>
          <a:solidFill>
            <a:srgbClr val="6A1B9A"/>
          </a:solidFill>
          <a:ln/>
        </p:spPr>
      </p:sp>
      <p:sp>
        <p:nvSpPr>
          <p:cNvPr id="31" name="Text 29"/>
          <p:cNvSpPr/>
          <p:nvPr/>
        </p:nvSpPr>
        <p:spPr>
          <a:xfrm>
            <a:off x="4919472" y="4151376"/>
            <a:ext cx="3886200" cy="32004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  AI Chatbots — Powers Amazon Lex &amp; custom bots</a:t>
            </a:r>
            <a:endParaRPr lang="en-US" sz="1100" dirty="0"/>
          </a:p>
        </p:txBody>
      </p:sp>
      <p:sp>
        <p:nvSpPr>
          <p:cNvPr id="32" name="Shape 30"/>
          <p:cNvSpPr/>
          <p:nvPr/>
        </p:nvSpPr>
        <p:spPr>
          <a:xfrm>
            <a:off x="4800600" y="4599432"/>
            <a:ext cx="4069080" cy="438912"/>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3" name="Shape 31"/>
          <p:cNvSpPr/>
          <p:nvPr/>
        </p:nvSpPr>
        <p:spPr>
          <a:xfrm>
            <a:off x="4800600" y="4599432"/>
            <a:ext cx="82296" cy="438912"/>
          </a:xfrm>
          <a:prstGeom prst="rect">
            <a:avLst/>
          </a:prstGeom>
          <a:solidFill>
            <a:srgbClr val="6A1B9A"/>
          </a:solidFill>
          <a:ln/>
        </p:spPr>
      </p:sp>
      <p:sp>
        <p:nvSpPr>
          <p:cNvPr id="34" name="Text 32"/>
          <p:cNvSpPr/>
          <p:nvPr/>
        </p:nvSpPr>
        <p:spPr>
          <a:xfrm>
            <a:off x="4919472" y="4654296"/>
            <a:ext cx="3886200" cy="320040"/>
          </a:xfrm>
          <a:prstGeom prst="rect">
            <a:avLst/>
          </a:prstGeom>
          <a:noFill/>
          <a:ln/>
        </p:spPr>
        <p:txBody>
          <a:bodyPr wrap="square" rtlCol="0" anchor="ctr"/>
          <a:lstStyle/>
          <a:p>
            <a:pPr indent="0" marL="0">
              <a:buNone/>
            </a:pPr>
            <a:r>
              <a:rPr lang="en-US" sz="1100" dirty="0">
                <a:solidFill>
                  <a:srgbClr val="37474F"/>
                </a:solidFill>
                <a:latin typeface="Calibri" pitchFamily="34" charset="0"/>
                <a:ea typeface="Calibri" pitchFamily="34" charset="-122"/>
                <a:cs typeface="Calibri" pitchFamily="34" charset="-120"/>
              </a:rPr>
              <a:t>📚  Knowledge Management — Centralized document access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Summary — AWS AI Services at a Glance</a:t>
            </a:r>
            <a:endParaRPr lang="en-US" sz="2600" dirty="0"/>
          </a:p>
        </p:txBody>
      </p:sp>
      <p:sp>
        <p:nvSpPr>
          <p:cNvPr id="3" name="Shape 1"/>
          <p:cNvSpPr/>
          <p:nvPr/>
        </p:nvSpPr>
        <p:spPr>
          <a:xfrm>
            <a:off x="228600" y="960120"/>
            <a:ext cx="2788920" cy="3931920"/>
          </a:xfrm>
          <a:prstGeom prst="rect">
            <a:avLst/>
          </a:prstGeom>
          <a:solidFill>
            <a:srgbClr val="1565C0"/>
          </a:solidFill>
          <a:ln/>
          <a:effectLst>
            <a:outerShdw sx="100000" sy="100000" kx="0" ky="0" algn="bl" rotWithShape="0" blurRad="63500" dist="25400" dir="8100000">
              <a:srgbClr val="000000">
                <a:alpha val="12000"/>
              </a:srgbClr>
            </a:outerShdw>
          </a:effectLst>
        </p:spPr>
      </p:sp>
      <p:sp>
        <p:nvSpPr>
          <p:cNvPr id="4" name="Text 2"/>
          <p:cNvSpPr/>
          <p:nvPr/>
        </p:nvSpPr>
        <p:spPr>
          <a:xfrm>
            <a:off x="320040" y="1005840"/>
            <a:ext cx="2606040"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Amazon A2I</a:t>
            </a:r>
            <a:endParaRPr lang="en-US" sz="1600" dirty="0"/>
          </a:p>
        </p:txBody>
      </p:sp>
      <p:sp>
        <p:nvSpPr>
          <p:cNvPr id="5" name="Text 3"/>
          <p:cNvSpPr/>
          <p:nvPr/>
        </p:nvSpPr>
        <p:spPr>
          <a:xfrm>
            <a:off x="320040" y="1417320"/>
            <a:ext cx="2606040" cy="320040"/>
          </a:xfrm>
          <a:prstGeom prst="rect">
            <a:avLst/>
          </a:prstGeom>
          <a:noFill/>
          <a:ln/>
        </p:spPr>
        <p:txBody>
          <a:bodyPr wrap="square" rtlCol="0" anchor="ctr"/>
          <a:lstStyle/>
          <a:p>
            <a:pPr algn="ctr" indent="0" marL="0">
              <a:buNone/>
            </a:pPr>
            <a:r>
              <a:rPr lang="en-US" sz="1200" i="1" dirty="0">
                <a:solidFill>
                  <a:srgbClr val="E0E0E0"/>
                </a:solidFill>
                <a:latin typeface="Calibri" pitchFamily="34" charset="0"/>
                <a:ea typeface="Calibri" pitchFamily="34" charset="-122"/>
                <a:cs typeface="Calibri" pitchFamily="34" charset="-120"/>
              </a:rPr>
              <a:t>Augmented AI</a:t>
            </a:r>
            <a:endParaRPr lang="en-US" sz="1200" dirty="0"/>
          </a:p>
        </p:txBody>
      </p:sp>
      <p:sp>
        <p:nvSpPr>
          <p:cNvPr id="6" name="Shape 4"/>
          <p:cNvSpPr/>
          <p:nvPr/>
        </p:nvSpPr>
        <p:spPr>
          <a:xfrm>
            <a:off x="365760" y="1764792"/>
            <a:ext cx="2514600" cy="36576"/>
          </a:xfrm>
          <a:prstGeom prst="rect">
            <a:avLst/>
          </a:prstGeom>
          <a:solidFill>
            <a:srgbClr val="FFFFFF">
              <a:alpha val="50000"/>
            </a:srgbClr>
          </a:solidFill>
          <a:ln/>
        </p:spPr>
      </p:sp>
      <p:sp>
        <p:nvSpPr>
          <p:cNvPr id="7" name="Text 5"/>
          <p:cNvSpPr/>
          <p:nvPr/>
        </p:nvSpPr>
        <p:spPr>
          <a:xfrm>
            <a:off x="320040" y="1828800"/>
            <a:ext cx="2606040" cy="2971800"/>
          </a:xfrm>
          <a:prstGeom prst="rect">
            <a:avLst/>
          </a:prstGeom>
          <a:noFill/>
          <a:ln/>
        </p:spPr>
        <p:txBody>
          <a:bodyPr wrap="square"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Human-in-the-loop ML review</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Routes low-confidence predictions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Pre-built &amp; custom workflows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Integrates: Textract, Rekognition, SageMaker</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Use: Docs, moderation, compliance</a:t>
            </a:r>
            <a:endParaRPr lang="en-US" sz="1100" dirty="0"/>
          </a:p>
        </p:txBody>
      </p:sp>
      <p:sp>
        <p:nvSpPr>
          <p:cNvPr id="8" name="Shape 6"/>
          <p:cNvSpPr/>
          <p:nvPr/>
        </p:nvSpPr>
        <p:spPr>
          <a:xfrm>
            <a:off x="3154680" y="960120"/>
            <a:ext cx="2788920" cy="3931920"/>
          </a:xfrm>
          <a:prstGeom prst="rect">
            <a:avLst/>
          </a:prstGeom>
          <a:solidFill>
            <a:srgbClr val="00897B"/>
          </a:solidFill>
          <a:ln/>
          <a:effectLst>
            <a:outerShdw sx="100000" sy="100000" kx="0" ky="0" algn="bl" rotWithShape="0" blurRad="63500" dist="25400" dir="8100000">
              <a:srgbClr val="000000">
                <a:alpha val="12000"/>
              </a:srgbClr>
            </a:outerShdw>
          </a:effectLst>
        </p:spPr>
      </p:sp>
      <p:sp>
        <p:nvSpPr>
          <p:cNvPr id="9" name="Text 7"/>
          <p:cNvSpPr/>
          <p:nvPr/>
        </p:nvSpPr>
        <p:spPr>
          <a:xfrm>
            <a:off x="3246120" y="1005840"/>
            <a:ext cx="2606040"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Amazon Transcribe</a:t>
            </a:r>
            <a:endParaRPr lang="en-US" sz="1600" dirty="0"/>
          </a:p>
        </p:txBody>
      </p:sp>
      <p:sp>
        <p:nvSpPr>
          <p:cNvPr id="10" name="Text 8"/>
          <p:cNvSpPr/>
          <p:nvPr/>
        </p:nvSpPr>
        <p:spPr>
          <a:xfrm>
            <a:off x="3246120" y="1417320"/>
            <a:ext cx="2606040" cy="320040"/>
          </a:xfrm>
          <a:prstGeom prst="rect">
            <a:avLst/>
          </a:prstGeom>
          <a:noFill/>
          <a:ln/>
        </p:spPr>
        <p:txBody>
          <a:bodyPr wrap="square" rtlCol="0" anchor="ctr"/>
          <a:lstStyle/>
          <a:p>
            <a:pPr algn="ctr" indent="0" marL="0">
              <a:buNone/>
            </a:pPr>
            <a:r>
              <a:rPr lang="en-US" sz="1200" i="1" dirty="0">
                <a:solidFill>
                  <a:srgbClr val="E0E0E0"/>
                </a:solidFill>
                <a:latin typeface="Calibri" pitchFamily="34" charset="0"/>
                <a:ea typeface="Calibri" pitchFamily="34" charset="-122"/>
                <a:cs typeface="Calibri" pitchFamily="34" charset="-120"/>
              </a:rPr>
              <a:t>Speech to Text</a:t>
            </a:r>
            <a:endParaRPr lang="en-US" sz="1200" dirty="0"/>
          </a:p>
        </p:txBody>
      </p:sp>
      <p:sp>
        <p:nvSpPr>
          <p:cNvPr id="11" name="Shape 9"/>
          <p:cNvSpPr/>
          <p:nvPr/>
        </p:nvSpPr>
        <p:spPr>
          <a:xfrm>
            <a:off x="3291840" y="1764792"/>
            <a:ext cx="2514600" cy="36576"/>
          </a:xfrm>
          <a:prstGeom prst="rect">
            <a:avLst/>
          </a:prstGeom>
          <a:solidFill>
            <a:srgbClr val="FFFFFF">
              <a:alpha val="50000"/>
            </a:srgbClr>
          </a:solidFill>
          <a:ln/>
        </p:spPr>
      </p:sp>
      <p:sp>
        <p:nvSpPr>
          <p:cNvPr id="12" name="Text 10"/>
          <p:cNvSpPr/>
          <p:nvPr/>
        </p:nvSpPr>
        <p:spPr>
          <a:xfrm>
            <a:off x="3246120" y="1828800"/>
            <a:ext cx="2606040" cy="2971800"/>
          </a:xfrm>
          <a:prstGeom prst="rect">
            <a:avLst/>
          </a:prstGeom>
          <a:noFill/>
          <a:ln/>
        </p:spPr>
        <p:txBody>
          <a:bodyPr wrap="square"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Automatic Speech Recognition (ASR)</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Real-time &amp; batch transcription</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Speaker identification (diarization)</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Custom vocabulary support</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Use: Call centers, health, education</a:t>
            </a:r>
            <a:endParaRPr lang="en-US" sz="1100" dirty="0"/>
          </a:p>
        </p:txBody>
      </p:sp>
      <p:sp>
        <p:nvSpPr>
          <p:cNvPr id="13" name="Shape 11"/>
          <p:cNvSpPr/>
          <p:nvPr/>
        </p:nvSpPr>
        <p:spPr>
          <a:xfrm>
            <a:off x="6080760" y="960120"/>
            <a:ext cx="2788920" cy="3931920"/>
          </a:xfrm>
          <a:prstGeom prst="rect">
            <a:avLst/>
          </a:prstGeom>
          <a:solidFill>
            <a:srgbClr val="6A1B9A"/>
          </a:solidFill>
          <a:ln/>
          <a:effectLst>
            <a:outerShdw sx="100000" sy="100000" kx="0" ky="0" algn="bl" rotWithShape="0" blurRad="63500" dist="25400" dir="8100000">
              <a:srgbClr val="000000">
                <a:alpha val="12000"/>
              </a:srgbClr>
            </a:outerShdw>
          </a:effectLst>
        </p:spPr>
      </p:sp>
      <p:sp>
        <p:nvSpPr>
          <p:cNvPr id="14" name="Text 12"/>
          <p:cNvSpPr/>
          <p:nvPr/>
        </p:nvSpPr>
        <p:spPr>
          <a:xfrm>
            <a:off x="6172200" y="1005840"/>
            <a:ext cx="2606040"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Amazon Kendra</a:t>
            </a:r>
            <a:endParaRPr lang="en-US" sz="1600" dirty="0"/>
          </a:p>
        </p:txBody>
      </p:sp>
      <p:sp>
        <p:nvSpPr>
          <p:cNvPr id="15" name="Text 13"/>
          <p:cNvSpPr/>
          <p:nvPr/>
        </p:nvSpPr>
        <p:spPr>
          <a:xfrm>
            <a:off x="6172200" y="1417320"/>
            <a:ext cx="2606040" cy="320040"/>
          </a:xfrm>
          <a:prstGeom prst="rect">
            <a:avLst/>
          </a:prstGeom>
          <a:noFill/>
          <a:ln/>
        </p:spPr>
        <p:txBody>
          <a:bodyPr wrap="square" rtlCol="0" anchor="ctr"/>
          <a:lstStyle/>
          <a:p>
            <a:pPr algn="ctr" indent="0" marL="0">
              <a:buNone/>
            </a:pPr>
            <a:r>
              <a:rPr lang="en-US" sz="1200" i="1" dirty="0">
                <a:solidFill>
                  <a:srgbClr val="E0E0E0"/>
                </a:solidFill>
                <a:latin typeface="Calibri" pitchFamily="34" charset="0"/>
                <a:ea typeface="Calibri" pitchFamily="34" charset="-122"/>
                <a:cs typeface="Calibri" pitchFamily="34" charset="-120"/>
              </a:rPr>
              <a:t>Intelligent Search</a:t>
            </a:r>
            <a:endParaRPr lang="en-US" sz="1200" dirty="0"/>
          </a:p>
        </p:txBody>
      </p:sp>
      <p:sp>
        <p:nvSpPr>
          <p:cNvPr id="16" name="Shape 14"/>
          <p:cNvSpPr/>
          <p:nvPr/>
        </p:nvSpPr>
        <p:spPr>
          <a:xfrm>
            <a:off x="6217920" y="1764792"/>
            <a:ext cx="2514600" cy="36576"/>
          </a:xfrm>
          <a:prstGeom prst="rect">
            <a:avLst/>
          </a:prstGeom>
          <a:solidFill>
            <a:srgbClr val="FFFFFF">
              <a:alpha val="50000"/>
            </a:srgbClr>
          </a:solidFill>
          <a:ln/>
        </p:spPr>
      </p:sp>
      <p:sp>
        <p:nvSpPr>
          <p:cNvPr id="17" name="Text 15"/>
          <p:cNvSpPr/>
          <p:nvPr/>
        </p:nvSpPr>
        <p:spPr>
          <a:xfrm>
            <a:off x="6172200" y="1828800"/>
            <a:ext cx="2606040" cy="2971800"/>
          </a:xfrm>
          <a:prstGeom prst="rect">
            <a:avLst/>
          </a:prstGeom>
          <a:noFill/>
          <a:ln/>
        </p:spPr>
        <p:txBody>
          <a:bodyPr wrap="square"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NLP-powered enterprise search</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Returns direct answers, not links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Connects to S3, SharePoint, Salesforce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ML-based ranking &amp; FAQ matching</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Use: HR portals, support bots, knowledge base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FF6F00"/>
          </a:solidFill>
          <a:ln/>
        </p:spPr>
      </p:sp>
      <p:sp>
        <p:nvSpPr>
          <p:cNvPr id="3" name="Shape 1"/>
          <p:cNvSpPr/>
          <p:nvPr/>
        </p:nvSpPr>
        <p:spPr>
          <a:xfrm>
            <a:off x="6400800" y="-457200"/>
            <a:ext cx="3200400" cy="3200400"/>
          </a:xfrm>
          <a:prstGeom prst="ellipse">
            <a:avLst/>
          </a:prstGeom>
          <a:solidFill>
            <a:srgbClr val="1565C0">
              <a:alpha val="20000"/>
            </a:srgbClr>
          </a:solidFill>
          <a:ln/>
        </p:spPr>
      </p:sp>
      <p:sp>
        <p:nvSpPr>
          <p:cNvPr id="4" name="Shape 2"/>
          <p:cNvSpPr/>
          <p:nvPr/>
        </p:nvSpPr>
        <p:spPr>
          <a:xfrm>
            <a:off x="7132320" y="365760"/>
            <a:ext cx="1828800" cy="1828800"/>
          </a:xfrm>
          <a:prstGeom prst="ellipse">
            <a:avLst/>
          </a:prstGeom>
          <a:solidFill>
            <a:srgbClr val="FF6F00">
              <a:alpha val="30000"/>
            </a:srgbClr>
          </a:solidFill>
          <a:ln/>
        </p:spPr>
      </p:sp>
      <p:sp>
        <p:nvSpPr>
          <p:cNvPr id="5" name="Text 3"/>
          <p:cNvSpPr/>
          <p:nvPr/>
        </p:nvSpPr>
        <p:spPr>
          <a:xfrm>
            <a:off x="640080" y="1188720"/>
            <a:ext cx="7772400" cy="1005840"/>
          </a:xfrm>
          <a:prstGeom prst="rect">
            <a:avLst/>
          </a:prstGeom>
          <a:noFill/>
          <a:ln/>
        </p:spPr>
        <p:txBody>
          <a:bodyPr wrap="square"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Thank You!</a:t>
            </a:r>
            <a:endParaRPr lang="en-US" sz="5000" dirty="0"/>
          </a:p>
        </p:txBody>
      </p:sp>
      <p:sp>
        <p:nvSpPr>
          <p:cNvPr id="6" name="Text 4"/>
          <p:cNvSpPr/>
          <p:nvPr/>
        </p:nvSpPr>
        <p:spPr>
          <a:xfrm>
            <a:off x="640080" y="2331720"/>
            <a:ext cx="7772400" cy="502920"/>
          </a:xfrm>
          <a:prstGeom prst="rect">
            <a:avLst/>
          </a:prstGeom>
          <a:noFill/>
          <a:ln/>
        </p:spPr>
        <p:txBody>
          <a:bodyPr wrap="square" rtlCol="0" anchor="ctr"/>
          <a:lstStyle/>
          <a:p>
            <a:pPr indent="0" marL="0">
              <a:buNone/>
            </a:pPr>
            <a:r>
              <a:rPr lang="en-US" sz="2200" dirty="0">
                <a:solidFill>
                  <a:srgbClr val="90CAF9"/>
                </a:solidFill>
                <a:latin typeface="Calibri" pitchFamily="34" charset="0"/>
                <a:ea typeface="Calibri" pitchFamily="34" charset="-122"/>
                <a:cs typeface="Calibri" pitchFamily="34" charset="-120"/>
              </a:rPr>
              <a:t>Questions &amp; Discussion</a:t>
            </a:r>
            <a:endParaRPr lang="en-US" sz="2200" dirty="0"/>
          </a:p>
        </p:txBody>
      </p:sp>
      <p:sp>
        <p:nvSpPr>
          <p:cNvPr id="7" name="Shape 5"/>
          <p:cNvSpPr/>
          <p:nvPr/>
        </p:nvSpPr>
        <p:spPr>
          <a:xfrm>
            <a:off x="640080" y="2971800"/>
            <a:ext cx="8046720" cy="36576"/>
          </a:xfrm>
          <a:prstGeom prst="rect">
            <a:avLst/>
          </a:prstGeom>
          <a:solidFill>
            <a:srgbClr val="FF6F00">
              <a:alpha val="70000"/>
            </a:srgbClr>
          </a:solidFill>
          <a:ln/>
        </p:spPr>
      </p:sp>
      <p:sp>
        <p:nvSpPr>
          <p:cNvPr id="8" name="Text 6"/>
          <p:cNvSpPr/>
          <p:nvPr/>
        </p:nvSpPr>
        <p:spPr>
          <a:xfrm>
            <a:off x="640080" y="3200400"/>
            <a:ext cx="7772400" cy="457200"/>
          </a:xfrm>
          <a:prstGeom prst="rect">
            <a:avLst/>
          </a:prstGeom>
          <a:noFill/>
          <a:ln/>
        </p:spPr>
        <p:txBody>
          <a:bodyPr wrap="square" rtlCol="0" anchor="ctr"/>
          <a:lstStyle/>
          <a:p>
            <a:pPr indent="0" marL="0">
              <a:buNone/>
            </a:pPr>
            <a:r>
              <a:rPr lang="en-US" sz="1600" dirty="0">
                <a:solidFill>
                  <a:srgbClr val="90A4AE"/>
                </a:solidFill>
                <a:latin typeface="Calibri" pitchFamily="34" charset="0"/>
                <a:ea typeface="Calibri" pitchFamily="34" charset="-122"/>
                <a:cs typeface="Calibri" pitchFamily="34" charset="-120"/>
              </a:rPr>
              <a:t>A2I  |  Transcribe  |  Kendra</a:t>
            </a:r>
            <a:endParaRPr lang="en-US" sz="1600" dirty="0"/>
          </a:p>
        </p:txBody>
      </p:sp>
      <p:sp>
        <p:nvSpPr>
          <p:cNvPr id="9" name="Text 7"/>
          <p:cNvSpPr/>
          <p:nvPr/>
        </p:nvSpPr>
        <p:spPr>
          <a:xfrm>
            <a:off x="640080" y="3657600"/>
            <a:ext cx="7772400" cy="411480"/>
          </a:xfrm>
          <a:prstGeom prst="rect">
            <a:avLst/>
          </a:prstGeom>
          <a:noFill/>
          <a:ln/>
        </p:spPr>
        <p:txBody>
          <a:bodyPr wrap="square" rtlCol="0" anchor="ctr"/>
          <a:lstStyle/>
          <a:p>
            <a:pPr indent="0" marL="0">
              <a:buNone/>
            </a:pPr>
            <a:r>
              <a:rPr lang="en-US" sz="1400" i="1" dirty="0">
                <a:solidFill>
                  <a:srgbClr val="90A4AE"/>
                </a:solidFill>
                <a:latin typeface="Calibri" pitchFamily="34" charset="0"/>
                <a:ea typeface="Calibri" pitchFamily="34" charset="-122"/>
                <a:cs typeface="Calibri" pitchFamily="34" charset="-120"/>
              </a:rPr>
              <a:t>Human Review  •  Speech to Text  •  Intelligent Search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AI Services</dc:title>
  <dc:subject>PptxGenJS Presentation</dc:subject>
  <dc:creator>PptxGenJS</dc:creator>
  <cp:lastModifiedBy>PptxGenJS</cp:lastModifiedBy>
  <cp:revision>1</cp:revision>
  <dcterms:created xsi:type="dcterms:W3CDTF">2026-04-29T02:56:20Z</dcterms:created>
  <dcterms:modified xsi:type="dcterms:W3CDTF">2026-04-29T02:56:20Z</dcterms:modified>
</cp:coreProperties>
</file>