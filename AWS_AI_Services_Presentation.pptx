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06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26080"/>
            <a:ext cx="12188952" cy="3931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8229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0A8E8"/>
                </a:solidFill>
              </a:rPr>
              <a:t>AWS AI / ML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0E8F7"/>
                </a:solidFill>
              </a:rPr>
              <a:t>Amazon A2I  ·  Amazon Transcribe  ·  Amazon Kendra</a:t>
            </a:r>
          </a:p>
        </p:txBody>
      </p:sp>
      <p:sp>
        <p:nvSpPr>
          <p:cNvPr id="10" name="Oval 9"/>
          <p:cNvSpPr/>
          <p:nvPr/>
        </p:nvSpPr>
        <p:spPr>
          <a:xfrm>
            <a:off x="2286000" y="2880360"/>
            <a:ext cx="7589520" cy="0"/>
          </a:xfrm>
          <a:prstGeom prst="ellipse">
            <a:avLst/>
          </a:prstGeom>
          <a:noFill/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8AA8C2"/>
                </a:solidFill>
              </a:rPr>
              <a:t>A comprehensive overview of Human-in-the-Loop, Speech Recognition
and Intelligent Enterprise Search on AWS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A8C2"/>
                </a:solidFill>
              </a:rPr>
              <a:t>Presented by: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09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A8C2"/>
                </a:solidFill>
              </a:rPr>
              <a:t>Cloud AI Presentation  |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66160" cy="429768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66160" cy="73152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A8E8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Amazon A2I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E8F7"/>
                </a:solidFill>
              </a:rPr>
              <a:t>Human-in-the-Loop ML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8AA8C2"/>
                </a:solidFill>
              </a:rPr>
              <a:t>›  What is A2I?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A8C2"/>
                </a:solidFill>
              </a:rPr>
              <a:t>›  How it works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A8C2"/>
                </a:solidFill>
              </a:rPr>
              <a:t>›  Key Features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A8C2"/>
                </a:solidFill>
              </a:rPr>
              <a:t>›  Use 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3566160" cy="429768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54480"/>
            <a:ext cx="3566160" cy="73152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691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C48A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231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Amazon Transcribe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063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E8F7"/>
                </a:solidFill>
              </a:rPr>
              <a:t>Automated Speech Recognition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6118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8AA8C2"/>
                </a:solidFill>
              </a:rPr>
              <a:t>›  What is Transcribe?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A8C2"/>
                </a:solidFill>
              </a:rPr>
              <a:t>›  How it works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A8C2"/>
                </a:solidFill>
              </a:rPr>
              <a:t>›  Key Features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A8C2"/>
                </a:solidFill>
              </a:rPr>
              <a:t>›  Use Cases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554480"/>
            <a:ext cx="3566160" cy="429768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554480"/>
            <a:ext cx="3566160" cy="73152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69164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9900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42316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Amazon Kendra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063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D0E8F7"/>
                </a:solidFill>
              </a:rPr>
              <a:t>Intelligent Enterprise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61188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8AA8C2"/>
                </a:solidFill>
              </a:rPr>
              <a:t>›  What is Kendra?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A8C2"/>
                </a:solidFill>
              </a:rPr>
              <a:t>›  How it works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A8C2"/>
                </a:solidFill>
              </a:rPr>
              <a:t>›  Key Features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A8C2"/>
                </a:solidFill>
              </a:rPr>
              <a:t>› 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2011680"/>
            <a:ext cx="2743200" cy="2743200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10312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A8E8"/>
                </a:solidFill>
              </a:rPr>
              <a:t>Amazon Augmented AI (A2I)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06324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D0E8F7"/>
                </a:solidFill>
              </a:rPr>
              <a:t>Human-in-the-Loop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Amazon A2I — Overview &amp; Workforce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669280" cy="521208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A8E8"/>
                </a:solidFill>
              </a:rPr>
              <a:t>What is Amazon A2I?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5257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D0E8F7"/>
                </a:solidFill>
              </a:rPr>
              <a:t>A managed AWS service that enables Human-in-the-Loop (HITL) machine learning — automatically routing uncertain ML predictions to human reviewers for validation.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00"/>
                </a:solidFill>
              </a:rPr>
              <a:t>KEY 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1188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D0E8F7"/>
                </a:solidFill>
              </a:rPr>
              <a:t>▸  Improved accuracy via human oversight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E8F7"/>
                </a:solidFill>
              </a:rPr>
              <a:t>▸  Compliance in critical applications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E8F7"/>
                </a:solidFill>
              </a:rPr>
              <a:t>▸  Reduced effort building review systems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E8F7"/>
                </a:solidFill>
              </a:rPr>
              <a:t>▸  Flexible workforce options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Workforce Options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737360"/>
            <a:ext cx="5394960" cy="12344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109728" cy="12344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🏢  Private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3317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A8C2"/>
                </a:solidFill>
              </a:rPr>
              <a:t>Your own employees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200400"/>
            <a:ext cx="5394960" cy="12344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200400"/>
            <a:ext cx="109728" cy="1234440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291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🤝  Third-Party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7947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A8C2"/>
                </a:solidFill>
              </a:rPr>
              <a:t>Vendor workforce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663440"/>
            <a:ext cx="5394960" cy="12344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4663440"/>
            <a:ext cx="109728" cy="1234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75487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🌐  Amazon MTurk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2578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A8C2"/>
                </a:solidFill>
              </a:rPr>
              <a:t>Crowd workers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Amazon A2I — Architecture &amp;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</a:rPr>
              <a:t>Architecture: Human-Loop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2377440" cy="22860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2377440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1920240"/>
            <a:ext cx="731520" cy="731520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ML Model
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043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2"/>
                </a:solidFill>
              </a:rPr>
              <a:t>Model generates output
(Textract / Rekognition
/ SageMaker)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6517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A8E8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737360"/>
            <a:ext cx="2377440" cy="22860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737360"/>
            <a:ext cx="2377440" cy="109728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60520" y="1920240"/>
            <a:ext cx="731520" cy="731520"/>
          </a:xfrm>
          <a:prstGeom prst="ellipse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7889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A2I
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52043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2"/>
                </a:solidFill>
              </a:rPr>
              <a:t>Checks confidence
threshold &amp; business
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6517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A8E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737360"/>
            <a:ext cx="2377440" cy="22860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1737360"/>
            <a:ext cx="2377440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95160" y="1920240"/>
            <a:ext cx="731520" cy="73152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7889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Human
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52043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2"/>
                </a:solidFill>
              </a:rPr>
              <a:t>Low-confidence tasks
routed to human
reviewers via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6517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A8E8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1737360"/>
            <a:ext cx="2377440" cy="22860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06840" y="1737360"/>
            <a:ext cx="2377440" cy="109728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829800" y="1920240"/>
            <a:ext cx="731520" cy="731520"/>
          </a:xfrm>
          <a:prstGeom prst="ellipse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2980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278892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Result
Consolidation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520439"/>
            <a:ext cx="2103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2"/>
                </a:solidFill>
              </a:rPr>
              <a:t>Reviewed output
stored &amp; returned
to application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2976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E8"/>
                </a:solidFill>
              </a:rPr>
              <a:t>Integrated AWS Services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754880"/>
            <a:ext cx="178308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0E8F7"/>
                </a:solidFill>
              </a:rPr>
              <a:t>Amazon Textract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7440" y="4754880"/>
            <a:ext cx="178308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50592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0E8F7"/>
                </a:solidFill>
              </a:rPr>
              <a:t>Amazon Rekognition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4754880"/>
            <a:ext cx="178308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70832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0E8F7"/>
                </a:solidFill>
              </a:rPr>
              <a:t>Amazon SageMaker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754880"/>
            <a:ext cx="178308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0E8F7"/>
                </a:solidFill>
              </a:rPr>
              <a:t>Amazon Comprehend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60" y="4754880"/>
            <a:ext cx="178308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11312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0E8F7"/>
                </a:solidFill>
              </a:rPr>
              <a:t>Amazon Transcribe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58400" y="4754880"/>
            <a:ext cx="178308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4800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D0E8F7"/>
                </a:solidFill>
              </a:rPr>
              <a:t>Amazon Translate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Amazon A2I —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</a:rPr>
              <a:t>Real-World Use Cases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577840" cy="19202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109728" cy="19202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📄 Document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8F7"/>
                </a:solidFill>
              </a:rPr>
              <a:t>Verify PII redaction in forms, extract key-value pairs from mortgage / tax documents with human validation.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5577840" cy="19202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691640"/>
            <a:ext cx="109728" cy="1920240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8288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🖼️ Content Moderation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37744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8F7"/>
                </a:solidFill>
              </a:rPr>
              <a:t>Review flagged images/text for explicit or harmful content before publishing.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5577840" cy="19202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109728" cy="19202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776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🏥 Healthcare &amp; Finance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2628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8F7"/>
                </a:solidFill>
              </a:rPr>
              <a:t>Ensure high-stakes predictions (diagnoses, loan approvals) meet accuracy and compliance standards.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840480"/>
            <a:ext cx="5577840" cy="19202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840480"/>
            <a:ext cx="109728" cy="1920240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9776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🔤 Text Extraction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526280"/>
            <a:ext cx="51206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8F7"/>
                </a:solidFill>
              </a:rPr>
              <a:t>Validate OCR output from scanned documents when confidence is below threshold.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2011680"/>
            <a:ext cx="2743200" cy="2743200"/>
          </a:xfrm>
          <a:prstGeom prst="ellipse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10312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C48A"/>
                </a:solidFill>
              </a:rPr>
              <a:t>Amazon Transcribe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06324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D0E8F7"/>
                </a:solidFill>
              </a:rPr>
              <a:t>Automated Speech Recognition (ASR) — Speech to 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Amazon Transcribe — Overview &amp; Key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94960" cy="521208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48A"/>
                </a:solidFill>
              </a:rPr>
              <a:t>What is Amazon Transcribe?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5074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D0E8F7"/>
                </a:solidFill>
              </a:rPr>
              <a:t>A fully managed Automatic Speech Recognition (ASR) service that converts spoken audio into accurate written text using deep learning.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00"/>
                </a:solidFill>
              </a:rPr>
              <a:t>HOW IT WORKS (4 STEPS)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74720"/>
            <a:ext cx="5074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D0E8F7"/>
                </a:solidFill>
              </a:rPr>
              <a:t>  ① Audio Input → S3 or streaming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E8F7"/>
                </a:solidFill>
              </a:rPr>
              <a:t>  ② Processing → speech patterns &amp; language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E8F7"/>
                </a:solidFill>
              </a:rPr>
              <a:t>  ③ Recognition → phonemes → words → text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D0E8F7"/>
                </a:solidFill>
              </a:rPr>
              <a:t>  ④ Output → JSON / TXT / SRT / VTT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178308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28800"/>
            <a:ext cx="1783080" cy="91440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01168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Real-Time
Streaming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79" y="272491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A8C2"/>
                </a:solidFill>
              </a:rPr>
              <a:t>Live captions for calls
&amp; events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828800"/>
            <a:ext cx="178308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828800"/>
            <a:ext cx="1783080" cy="914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201168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Batch
Transcription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72491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A8C2"/>
                </a:solidFill>
              </a:rPr>
              <a:t>Upload &amp; process
recorded audio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04120" y="1828800"/>
            <a:ext cx="178308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104120" y="1828800"/>
            <a:ext cx="178308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201168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Speaker
Diarization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272491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A8C2"/>
                </a:solidFill>
              </a:rPr>
              <a:t>Identify &amp; label
multiple speakers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931920"/>
            <a:ext cx="178308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931920"/>
            <a:ext cx="1783080" cy="91440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79" y="411480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Custom
Vocabulary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79" y="4828031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A8C2"/>
                </a:solidFill>
              </a:rPr>
              <a:t>Domain-specific terms
for better accuracy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3931920"/>
            <a:ext cx="178308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79" y="3931920"/>
            <a:ext cx="1783080" cy="91440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411480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Content
Redaction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19" y="4828031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A8C2"/>
                </a:solidFill>
              </a:rPr>
              <a:t>Auto-hide PII
names, card numbers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04120" y="3931920"/>
            <a:ext cx="178308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104120" y="3931920"/>
            <a:ext cx="1783080" cy="914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95560" y="411480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Call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95560" y="4828031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8AA8C2"/>
                </a:solidFill>
              </a:rPr>
              <a:t>Sentiment, phrases
&amp; issue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Amazon Transcribe — Architecture &amp;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</a:rPr>
              <a:t>Processing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246888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78308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🎙️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48A"/>
                </a:solidFill>
              </a:rPr>
              <a:t>Audio
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2"/>
                </a:solidFill>
              </a:rPr>
              <a:t>.mp3 .wav
.mp4 → 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2860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48A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91640"/>
            <a:ext cx="246888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78308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231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48A"/>
                </a:solidFill>
              </a:rPr>
              <a:t>ASR
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063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2"/>
                </a:solidFill>
              </a:rPr>
              <a:t>Deep learning
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2860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48A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691640"/>
            <a:ext cx="246888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178308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4231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48A"/>
                </a:solidFill>
              </a:rPr>
              <a:t>Text
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063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2"/>
                </a:solidFill>
              </a:rPr>
              <a:t>JSON / TXT
SRT / VTT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2860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48A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1691640"/>
            <a:ext cx="246888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1783080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423160"/>
            <a:ext cx="2286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48A"/>
                </a:solidFill>
              </a:rPr>
              <a:t>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0632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2"/>
                </a:solidFill>
              </a:rPr>
              <a:t>Sentiment &amp;
Phrases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749039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</a:rPr>
              <a:t>Industry Use Cases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51960"/>
            <a:ext cx="2651760" cy="21488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343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48A"/>
                </a:solidFill>
              </a:rPr>
              <a:t>🎬 Media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846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7"/>
                </a:solidFill>
              </a:rPr>
              <a:t>Subtitles &amp; video captioning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4251960"/>
            <a:ext cx="2651760" cy="21488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4343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48A"/>
                </a:solidFill>
              </a:rPr>
              <a:t>📞 Call Centers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4846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7"/>
                </a:solidFill>
              </a:rPr>
              <a:t>Customer support analysis &amp; QA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4251960"/>
            <a:ext cx="2651760" cy="21488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4343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48A"/>
                </a:solidFill>
              </a:rPr>
              <a:t>🏥 Healthcare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846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7"/>
                </a:solidFill>
              </a:rPr>
              <a:t>Doctor-patient note automation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4251960"/>
            <a:ext cx="2651760" cy="21488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98280" y="43434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48A"/>
                </a:solidFill>
              </a:rPr>
              <a:t>🎓 Education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48463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7"/>
                </a:solidFill>
              </a:rPr>
              <a:t>Lecture transcripts &amp; accessibility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2011680"/>
            <a:ext cx="2743200" cy="27432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10312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9900"/>
                </a:solidFill>
              </a:rPr>
              <a:t>Amazon Kendra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306324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D0E8F7"/>
                </a:solidFill>
              </a:rPr>
              <a:t>Intelligent Enterprise Search Powered by ML &amp; NLP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Amazon Kendra — Overview &amp;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521208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900"/>
                </a:solidFill>
              </a:rPr>
              <a:t>What is Amazon Kendra?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51663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D0E8F7"/>
                </a:solidFill>
              </a:rPr>
              <a:t>An AI-powered enterprise search service that uses Natural Language Processing (NLP) and Machine Learning to deliver highly accurate answers from large volumes of structured and unstructured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2461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48A"/>
                </a:solidFill>
              </a:rPr>
              <a:t>KEY DIFFERENTIATOR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657600"/>
            <a:ext cx="5166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8F7"/>
                </a:solidFill>
              </a:rPr>
              <a:t>Unlike keyword search, Kendra understands the meaning, context, and intent behind queries — returning direct answers, not just document links.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754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8E8"/>
                </a:solidFill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120640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8AA8C2"/>
                </a:solidFill>
              </a:rPr>
              <a:t>"How many leaves are allowed?" → Kendra returns the exact HR policy answer, not a list of documents.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1887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Kendra vs Traditional Search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828800"/>
            <a:ext cx="1920240" cy="411480"/>
          </a:xfrm>
          <a:prstGeom prst="rect">
            <a:avLst/>
          </a:prstGeom>
          <a:solidFill>
            <a:srgbClr val="025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874519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828800"/>
            <a:ext cx="1737360" cy="411480"/>
          </a:xfrm>
          <a:prstGeom prst="rect">
            <a:avLst/>
          </a:prstGeom>
          <a:solidFill>
            <a:srgbClr val="025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874519"/>
            <a:ext cx="16459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Traditional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21240" y="1828800"/>
            <a:ext cx="1828800" cy="411480"/>
          </a:xfrm>
          <a:prstGeom prst="rect">
            <a:avLst/>
          </a:prstGeom>
          <a:solidFill>
            <a:srgbClr val="025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94392" y="187451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Amazon Kendra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286000"/>
            <a:ext cx="1920240" cy="530352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23591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D0E8F7"/>
                </a:solidFill>
              </a:rPr>
              <a:t>Search Type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2286000"/>
            <a:ext cx="1737360" cy="530352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2359152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A8C2"/>
                </a:solidFill>
              </a:rPr>
              <a:t>Keyword-based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21240" y="2286000"/>
            <a:ext cx="1828800" cy="530352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94392" y="235915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00C48A"/>
                </a:solidFill>
              </a:rPr>
              <a:t>AI / NLP-based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852928"/>
            <a:ext cx="192024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29260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D0E8F7"/>
                </a:solidFill>
              </a:rPr>
              <a:t>Accuracy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2852928"/>
            <a:ext cx="173736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57031" y="2926080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A8C2"/>
                </a:solidFill>
              </a:rPr>
              <a:t>Low – exact match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21240" y="2852928"/>
            <a:ext cx="182880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94392" y="29260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00C48A"/>
                </a:solidFill>
              </a:rPr>
              <a:t>High – semantic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419856"/>
            <a:ext cx="1920240" cy="530352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36792" y="34930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D0E8F7"/>
                </a:solidFill>
              </a:rPr>
              <a:t>Context Aware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79" y="3419856"/>
            <a:ext cx="1737360" cy="530352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3493008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FF6666"/>
                </a:solidFill>
              </a:rPr>
              <a:t>❌ 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21240" y="3419856"/>
            <a:ext cx="1828800" cy="530352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94392" y="349300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00C48A"/>
                </a:solidFill>
              </a:rPr>
              <a:t>✅ Yes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986783"/>
            <a:ext cx="192024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36792" y="4059935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D0E8F7"/>
                </a:solidFill>
              </a:rPr>
              <a:t>Learning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83879" y="3986783"/>
            <a:ext cx="173736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57031" y="4059935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A8C2"/>
                </a:solidFill>
              </a:rPr>
              <a:t>Static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21240" y="3986783"/>
            <a:ext cx="1828800" cy="53035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94392" y="4059935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00C48A"/>
                </a:solidFill>
              </a:rPr>
              <a:t>Dynamic ML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4553712"/>
            <a:ext cx="1920240" cy="530352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36792" y="462686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D0E8F7"/>
                </a:solidFill>
              </a:rPr>
              <a:t>Answer Type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83879" y="4553712"/>
            <a:ext cx="1737360" cy="530352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57031" y="4626864"/>
            <a:ext cx="16459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A8C2"/>
                </a:solidFill>
              </a:rPr>
              <a:t>Document links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21240" y="4553712"/>
            <a:ext cx="1828800" cy="530352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94392" y="462686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00C48A"/>
                </a:solidFill>
              </a:rPr>
              <a:t>Direct answers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Amazon Kendra — Architecture &amp; Search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</a:rPr>
              <a:t>How Amazon Kendra Works — Step-by-Step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37360"/>
            <a:ext cx="2606040" cy="210312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737360"/>
            <a:ext cx="2606040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25880" y="1920240"/>
            <a:ext cx="731520" cy="731520"/>
          </a:xfrm>
          <a:prstGeom prst="ellipse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Data
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832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A8C2"/>
                </a:solidFill>
              </a:rPr>
              <a:t>Connect S3,
SharePoint,
Salesforce…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24688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1737360"/>
            <a:ext cx="2606040" cy="210312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737360"/>
            <a:ext cx="2606040" cy="109728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251960" y="1920240"/>
            <a:ext cx="731520" cy="731520"/>
          </a:xfrm>
          <a:prstGeom prst="ellipse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5196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74320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Document
Parsing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3832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A8C2"/>
                </a:solidFill>
              </a:rPr>
              <a:t>Extract text,
tables, headings
&amp; metadata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24688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737360"/>
            <a:ext cx="2606040" cy="210312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737360"/>
            <a:ext cx="2606040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178040" y="1920240"/>
            <a:ext cx="731520" cy="73152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74320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NLP
Processing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3832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A8C2"/>
                </a:solidFill>
              </a:rPr>
              <a:t>Understand synonyms,
intent &amp; context
(semantic search)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34272" y="24688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9720" y="1737360"/>
            <a:ext cx="2606040" cy="210312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89720" y="1737360"/>
            <a:ext cx="2606040" cy="109728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04120" y="1920240"/>
            <a:ext cx="731520" cy="731520"/>
          </a:xfrm>
          <a:prstGeom prst="ellipse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04120" y="192024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743200"/>
            <a:ext cx="2331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Index
Creation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38328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8AA8C2"/>
                </a:solidFill>
              </a:rPr>
              <a:t>Build fast, accurate
searchable index
with ML ranking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069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8E8"/>
                </a:solidFill>
              </a:rPr>
              <a:t>Query Flow: User → Kendra → Answer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617720"/>
            <a:ext cx="214884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7091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900"/>
                </a:solidFill>
              </a:rPr>
              <a:t>User Query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2578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2"/>
                </a:solidFill>
              </a:rPr>
              <a:t>Natural language
question asked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51760" y="5166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9900"/>
                </a:solidFill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4617720"/>
            <a:ext cx="214884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834640" y="47091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900"/>
                </a:solidFill>
              </a:rPr>
              <a:t>Query Understanding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40" y="52578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2"/>
                </a:solidFill>
              </a:rPr>
              <a:t>Intent, keywords
&amp; context extracted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83479" y="5166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9900"/>
                </a:solidFill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74920" y="4617720"/>
            <a:ext cx="214884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66359" y="47091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900"/>
                </a:solidFill>
              </a:rPr>
              <a:t>Search &amp; Match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59" y="52578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2"/>
                </a:solidFill>
              </a:rPr>
              <a:t>Semantic match
inside index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5166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9900"/>
                </a:solidFill>
              </a:rPr>
              <a:t>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4617720"/>
            <a:ext cx="214884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98079" y="47091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900"/>
                </a:solidFill>
              </a:rPr>
              <a:t>ML Ranking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79" y="52578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2"/>
                </a:solidFill>
              </a:rPr>
              <a:t>Best result
ranked top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46919" y="516636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9900"/>
                </a:solidFill>
              </a:rPr>
              <a:t>›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38359" y="4617720"/>
            <a:ext cx="2148840" cy="1828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829799" y="4709160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900"/>
                </a:solidFill>
              </a:rPr>
              <a:t>Direct Answer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29799" y="52578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AA8C2"/>
                </a:solidFill>
              </a:rPr>
              <a:t>Exact answer
returned to user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Amazon Kendra — Features &amp;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</a:rPr>
              <a:t>Key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577840" cy="685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4650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🗣️ Natural Language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74650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8C2"/>
                </a:solidFill>
              </a:rPr>
              <a:t>Ask questions in plain English — no keywords needed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5577840" cy="685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2374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📂 200+ Data Connectors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52374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8C2"/>
                </a:solidFill>
              </a:rPr>
              <a:t>S3, SharePoint, Salesforce, Google Drive &amp; more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246120"/>
            <a:ext cx="5577840" cy="685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30098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❓ FAQ Matching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30098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8C2"/>
                </a:solidFill>
              </a:rPr>
              <a:t>Direct answers from uploaded FAQ documents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023360"/>
            <a:ext cx="5577840" cy="685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7822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🔒 Access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07822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8C2"/>
                </a:solidFill>
              </a:rPr>
              <a:t>IAM-integrated, document-level permissions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800600"/>
            <a:ext cx="5577840" cy="685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5546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📈 ML Relevance Ranking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855464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8C2"/>
                </a:solidFill>
              </a:rPr>
              <a:t>Learns from user behavior to improve over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577840"/>
            <a:ext cx="5577840" cy="68580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632703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🔧 Custom Tuning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632703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A8C2"/>
                </a:solidFill>
              </a:rPr>
              <a:t>Synonyms, boosting &amp; Custom Document Enrichment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1430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900"/>
                </a:solidFill>
              </a:rPr>
              <a:t>Use Cases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1691640"/>
            <a:ext cx="5486400" cy="109728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1691640"/>
            <a:ext cx="109728" cy="109728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17830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🔍 Enterprise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286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7"/>
                </a:solidFill>
              </a:rPr>
              <a:t>Internal HR, IT &amp; policy search across all documents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926080"/>
            <a:ext cx="5486400" cy="109728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2926080"/>
            <a:ext cx="109728" cy="1097280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017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💬 Customer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5204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7"/>
                </a:solidFill>
              </a:rPr>
              <a:t>Self-service portals &amp; chatbot integration with Amazon Lex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160520"/>
            <a:ext cx="5486400" cy="109728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4160520"/>
            <a:ext cx="109728" cy="10972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42519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📚 Knowledge Management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7548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7"/>
                </a:solidFill>
              </a:rPr>
              <a:t>Centralized knowledge base for employees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5394960"/>
            <a:ext cx="5486400" cy="109728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5394960"/>
            <a:ext cx="109728" cy="1097280"/>
          </a:xfrm>
          <a:prstGeom prst="rect">
            <a:avLst/>
          </a:prstGeom>
          <a:solidFill>
            <a:srgbClr val="AA4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54864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🤖 AI Applications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59893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D0E8F7"/>
                </a:solidFill>
              </a:rPr>
              <a:t>Power intelligent Q&amp;A apps on SaaS platforms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"/>
            <a:ext cx="114300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Summary — When to Use Which Service?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3703320" cy="521208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3703320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A8E8"/>
                </a:solidFill>
              </a:rPr>
              <a:t>Amazon A2I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A8C2"/>
                </a:solidFill>
              </a:rPr>
              <a:t>Human-in-the-Loop review for ML predictions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00"/>
                </a:solidFill>
              </a:rPr>
              <a:t>USE WHEN: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99232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D0E8F7"/>
                </a:solidFill>
              </a:rPr>
              <a:t>▸  Low-confidence ML outputs need validation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D0E8F7"/>
                </a:solidFill>
              </a:rPr>
              <a:t>▸  Regulated industries (finance, healthcare)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D0E8F7"/>
                </a:solidFill>
              </a:rPr>
              <a:t>▸  Content moderation with human oversight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D0E8F7"/>
                </a:solidFill>
              </a:rPr>
              <a:t>▸  Document processing accuracy is critical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234440"/>
            <a:ext cx="3703320" cy="521208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234440"/>
            <a:ext cx="3703320" cy="109728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41732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48A"/>
                </a:solidFill>
              </a:rPr>
              <a:t>Amazon Transcribe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196596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A8C2"/>
                </a:solidFill>
              </a:rPr>
              <a:t>Convert speech &amp; audio into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6060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00"/>
                </a:solidFill>
              </a:rPr>
              <a:t>USE WHEN: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999232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D0E8F7"/>
                </a:solidFill>
              </a:rPr>
              <a:t>▸  Transcribe calls, meetings, or lectures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D0E8F7"/>
                </a:solidFill>
              </a:rPr>
              <a:t>▸  Generate subtitles for video content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D0E8F7"/>
                </a:solidFill>
              </a:rPr>
              <a:t>▸  Analyze customer conversations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D0E8F7"/>
                </a:solidFill>
              </a:rPr>
              <a:t>▸  Build voice-powered documentation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19" y="1234440"/>
            <a:ext cx="3703320" cy="521208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1234440"/>
            <a:ext cx="3703320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199" y="1417320"/>
            <a:ext cx="3337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9900"/>
                </a:solidFill>
              </a:rPr>
              <a:t>Amazon Kendra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199" y="1965960"/>
            <a:ext cx="3337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A8C2"/>
                </a:solidFill>
              </a:rPr>
              <a:t>Intelligent search over enterprise content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199" y="26060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00"/>
                </a:solidFill>
              </a:rPr>
              <a:t>USE WHEN: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199" y="2999232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D0E8F7"/>
                </a:solidFill>
              </a:rPr>
              <a:t>▸  Employees need fast answers from docs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D0E8F7"/>
                </a:solidFill>
              </a:rPr>
              <a:t>▸  Replace outdated keyword-based search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D0E8F7"/>
                </a:solidFill>
              </a:rPr>
              <a:t>▸  Power customer self-service portals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D0E8F7"/>
                </a:solidFill>
              </a:rPr>
              <a:t>▸  Integrate NLP search into SaaS apps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7" name="Oval 6"/>
          <p:cNvSpPr/>
          <p:nvPr/>
        </p:nvSpPr>
        <p:spPr>
          <a:xfrm>
            <a:off x="2743200" y="2834640"/>
            <a:ext cx="6675120" cy="0"/>
          </a:xfrm>
          <a:prstGeom prst="ellipse">
            <a:avLst/>
          </a:prstGeom>
          <a:noFill/>
          <a:ln w="19050">
            <a:solidFill>
              <a:srgbClr val="00A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0E8F7"/>
                </a:solidFill>
              </a:rPr>
              <a:t>Amazon A2I  ·  Amazon Transcribe  ·  Amazon Kendra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8AA8C2"/>
                </a:solidFill>
              </a:rPr>
              <a:t>Empowering Intelligence with Human + Machine Collaboration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0" y="4663440"/>
            <a:ext cx="2743200" cy="10058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645920" y="4663440"/>
            <a:ext cx="2743200" cy="91440"/>
          </a:xfrm>
          <a:prstGeom prst="rect">
            <a:avLst/>
          </a:prstGeom>
          <a:solidFill>
            <a:srgbClr val="00A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800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8E8"/>
                </a:solidFill>
              </a:rPr>
              <a:t>A2I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212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A8C2"/>
                </a:solidFill>
              </a:rPr>
              <a:t>Human-in-the-Loop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4663440"/>
            <a:ext cx="2743200" cy="10058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4663440"/>
            <a:ext cx="2743200" cy="91440"/>
          </a:xfrm>
          <a:prstGeom prst="rect">
            <a:avLst/>
          </a:prstGeom>
          <a:solidFill>
            <a:srgbClr val="00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4800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48A"/>
                </a:solidFill>
              </a:rPr>
              <a:t>Transcribe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212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A8C2"/>
                </a:solidFill>
              </a:rPr>
              <a:t>Speech to 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4663440"/>
            <a:ext cx="2743200" cy="1005840"/>
          </a:xfrm>
          <a:prstGeom prst="rect">
            <a:avLst/>
          </a:prstGeom>
          <a:solidFill>
            <a:srgbClr val="16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0" y="4663440"/>
            <a:ext cx="2743200" cy="9144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0" y="480060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9900"/>
                </a:solidFill>
              </a:rPr>
              <a:t>Kendra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5212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A8C2"/>
                </a:solidFill>
              </a:rPr>
              <a:t>Enterprise 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A8E8"/>
                </a:solidFill>
              </a:rPr>
              <a:t>Questions? Let's Discuss!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